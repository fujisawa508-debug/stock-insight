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59" r:id="rId7"/>
    <p:sldId id="275" r:id="rId8"/>
    <p:sldId id="263" r:id="rId9"/>
    <p:sldId id="264" r:id="rId10"/>
    <p:sldId id="276" r:id="rId11"/>
    <p:sldId id="260" r:id="rId12"/>
    <p:sldId id="265" r:id="rId13"/>
    <p:sldId id="266" r:id="rId14"/>
    <p:sldId id="277" r:id="rId15"/>
    <p:sldId id="258" r:id="rId16"/>
    <p:sldId id="261" r:id="rId17"/>
    <p:sldId id="262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375D"/>
          </a:solidFill>
          <a:ln w="1270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株式投資判断支援 Webアプリ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106984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600" b="0">
                <a:solidFill>
                  <a:srgbClr val="D6E0EA"/>
                </a:solidFill>
                <a:latin typeface="Meiryo"/>
              </a:rPr>
              <a:t>実装設計書｜4カテゴリ完全版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9848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100" b="1">
                <a:solidFill>
                  <a:srgbClr val="1A375D"/>
                </a:solidFill>
                <a:latin typeface="Meiryo"/>
              </a:rPr>
              <a:t>日本株 × テーマ分析 × 保存 × 振り返り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100584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50" b="0">
                <a:solidFill>
                  <a:srgbClr val="263446"/>
                </a:solidFill>
                <a:latin typeface="Meiryo"/>
              </a:rPr>
              <a:t>Claude Codeで実装を進めるために、画面・構成・DB・API・処理フローを1つに集約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520440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685032"/>
            <a:ext cx="233172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4A78A8"/>
                </a:solidFill>
                <a:latin typeface="Meiryo"/>
              </a:rPr>
              <a:t>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59352"/>
            <a:ext cx="23317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A375D"/>
                </a:solidFill>
                <a:latin typeface="Meiryo"/>
              </a:rPr>
              <a:t>テーマ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91256" y="4078224"/>
            <a:ext cx="320040" cy="0"/>
          </a:xfrm>
          <a:prstGeom prst="line">
            <a:avLst/>
          </a:prstGeom>
          <a:ln w="2286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84448" y="3520440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3685032"/>
            <a:ext cx="233172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4A78A8"/>
                </a:solidFill>
                <a:latin typeface="Meiryo"/>
              </a:rP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959352"/>
            <a:ext cx="23317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A375D"/>
                </a:solidFill>
                <a:latin typeface="Meiryo"/>
              </a:rPr>
              <a:t>銘柄分析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34456" y="4078224"/>
            <a:ext cx="320040" cy="0"/>
          </a:xfrm>
          <a:prstGeom prst="line">
            <a:avLst/>
          </a:prstGeom>
          <a:ln w="2286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27648" y="3520440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3685032"/>
            <a:ext cx="233172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4A78A8"/>
                </a:solidFill>
                <a:latin typeface="Meiryo"/>
              </a:rPr>
              <a:t>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959352"/>
            <a:ext cx="23317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A375D"/>
                </a:solidFill>
                <a:latin typeface="Meiryo"/>
              </a:rPr>
              <a:t>分析セット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77656" y="4078224"/>
            <a:ext cx="320040" cy="0"/>
          </a:xfrm>
          <a:prstGeom prst="line">
            <a:avLst/>
          </a:prstGeom>
          <a:ln w="2286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70848" y="3520440"/>
            <a:ext cx="2331720" cy="111556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0848" y="3685032"/>
            <a:ext cx="233172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4A78A8"/>
                </a:solidFill>
                <a:latin typeface="Meiryo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959352"/>
            <a:ext cx="23317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A375D"/>
                </a:solidFill>
                <a:latin typeface="Meiryo"/>
              </a:rPr>
              <a:t>振り返り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66360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21945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50" b="1">
                <a:solidFill>
                  <a:srgbClr val="3E7C6B"/>
                </a:solidFill>
                <a:latin typeface="Meiryo"/>
              </a:rPr>
              <a:t>MVP：分析・保存・比較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166360"/>
            <a:ext cx="2057400" cy="43891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166360"/>
            <a:ext cx="205740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50" b="1">
                <a:solidFill>
                  <a:srgbClr val="1A375D"/>
                </a:solidFill>
                <a:latin typeface="Meiryo"/>
              </a:rPr>
              <a:t>AI：整理・説明役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5166360"/>
            <a:ext cx="2971800" cy="438912"/>
          </a:xfrm>
          <a:prstGeom prst="roundRect">
            <a:avLst>
              <a:gd name="adj" fmla="val 12000"/>
            </a:avLst>
          </a:prstGeom>
          <a:solidFill>
            <a:srgbClr val="FBF1E5"/>
          </a:solidFill>
          <a:ln w="6350">
            <a:solidFill>
              <a:srgbClr val="FB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0680" y="5166360"/>
            <a:ext cx="297180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50" b="1">
                <a:solidFill>
                  <a:srgbClr val="A96C25"/>
                </a:solidFill>
                <a:latin typeface="Meiryo"/>
              </a:rPr>
              <a:t>分析時点データは上書きしない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4512" y="6473952"/>
            <a:ext cx="64008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前回までの合意 / 今回まとめた設計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要件は固まっていた一方、実装に必要な設計を1冊に集約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3492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682496"/>
            <a:ext cx="1417320" cy="329184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6"/>
            <a:ext cx="141732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3E7C6B"/>
                </a:solidFill>
                <a:latin typeface="Meiryo"/>
              </a:rPr>
              <a:t>前回までに合意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48006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A375D"/>
                </a:solidFill>
                <a:latin typeface="Meiryo"/>
              </a:rPr>
              <a:t>プロダクト /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42032"/>
            <a:ext cx="4800600" cy="31089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日本株を対象に、テーマから5〜10銘柄を比較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HOME → THEME → STOCK → SET → REVIEW の流れ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AIは「買う/売る」の判断主体ではなく、注目理由やリスクの整理役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分析時点の株価・指標・AI分析・情報源を保存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後から現在値と比較し、当時の判断材料を振り返る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リアルタイム性より信頼性・履歴・低コストを優先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481328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3096" y="1682496"/>
            <a:ext cx="1417320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1682496"/>
            <a:ext cx="141732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今回の補完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39696"/>
            <a:ext cx="47091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A375D"/>
                </a:solidFill>
                <a:latin typeface="Meiryo"/>
              </a:rPr>
              <a:t>実装に必要な設計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542032"/>
            <a:ext cx="4617720" cy="31089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Next.js + TypeScript を中心としたアプリ構成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フロント / API / Service / Repository / Provider の責務分離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Supabase(PostgreSQL)を想定したDB構造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J-Quants / EDINET / ニュース / AIを差し替え可能な外部連携層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固定スナップショットと最新データ比較の保存ルール</a:t>
            </a:r>
          </a:p>
          <a:p>
            <a:pPr>
              <a:spcAft>
                <a:spcPts val="700"/>
              </a:spcAft>
              <a:defRPr sz="1320">
                <a:solidFill>
                  <a:srgbClr val="263446"/>
                </a:solidFill>
                <a:latin typeface="Meiryo"/>
              </a:defRPr>
            </a:pPr>
            <a:r>
              <a:t>• テスト・エラー処理・秘密情報管理・実装順序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C3A5B"/>
          </a:solidFill>
          <a:ln>
            <a:solidFill>
              <a:srgbClr val="1C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A5B"/>
                </a:solidFill>
                <a:latin typeface="Meiryo"/>
              </a:rPr>
              <a:t>設計を4カテゴリで整理する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Meiryo"/>
              </a:rPr>
              <a:t>実装設計書 v1 の内容を落とさず、学習・レビューしやすい4章構成へ再配置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10972"/>
          </a:xfrm>
          <a:prstGeom prst="rect">
            <a:avLst/>
          </a:prstGeom>
          <a:solidFill>
            <a:srgbClr val="DEE6EE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1645920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4088" y="1645920"/>
            <a:ext cx="566928" cy="566928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64592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5819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76795"/>
                </a:solidFill>
                <a:latin typeface="Meiryo"/>
              </a:rPr>
              <a:t>画面・UI設計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984248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52F3A"/>
                </a:solidFill>
                <a:latin typeface="Meiryo"/>
              </a:rPr>
              <a:t>ユーザーが何を見るか / どう移動するか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4231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Meiryo"/>
              </a:rPr>
              <a:t>5画面・URL・画面責務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1645920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19088" y="1645920"/>
            <a:ext cx="566928" cy="566928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2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5819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0827C"/>
                </a:solidFill>
                <a:latin typeface="Meiryo"/>
              </a:rPr>
              <a:t>データ・DB設計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984248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52F3A"/>
                </a:solidFill>
                <a:latin typeface="Meiryo"/>
              </a:rPr>
              <a:t>何を保存し、何を履歴として固定するか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4231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Meiryo"/>
              </a:rPr>
              <a:t>DB構造・Snapshot・保存ルール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5349240" cy="1645920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4088" y="3703320"/>
            <a:ext cx="566928" cy="566928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70332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36393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87745"/>
                </a:solidFill>
                <a:latin typeface="Meiryo"/>
              </a:rPr>
              <a:t>処理・API設計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041648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52F3A"/>
                </a:solidFill>
                <a:latin typeface="Meiryo"/>
              </a:rPr>
              <a:t>操作から保存・比較まで何が起きるか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44805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Meiryo"/>
              </a:rPr>
              <a:t>処理フロー・API・Service・Provider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349240" cy="1645920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19088" y="3703320"/>
            <a:ext cx="566928" cy="56692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70332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36393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695B91"/>
                </a:solidFill>
                <a:latin typeface="Meiryo"/>
              </a:rPr>
              <a:t>システム・非機能設計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041648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52F3A"/>
                </a:solidFill>
                <a:latin typeface="Meiryo"/>
              </a:rPr>
              <a:t>アプリ全体をどう安全に成立させるか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4805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Meiryo"/>
              </a:rPr>
              <a:t>構成・技術・ディレクトリ・テスト・実装順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596128"/>
            <a:ext cx="11064240" cy="603504"/>
          </a:xfrm>
          <a:prstGeom prst="roundRect">
            <a:avLst/>
          </a:prstGeom>
          <a:solidFill>
            <a:srgbClr val="ECF6F0"/>
          </a:solidFill>
          <a:ln>
            <a:solidFill>
              <a:srgbClr val="CF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669280"/>
            <a:ext cx="10698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68264"/>
                </a:solidFill>
                <a:latin typeface="Meiryo"/>
              </a:rPr>
              <a:t>見方：実装中に「今どの設計を触っているか」を ①画面 ②データ ③処理 ④システム に戻して確認する。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C3A5B"/>
          </a:solidFill>
          <a:ln>
            <a:solidFill>
              <a:srgbClr val="1C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C3A5B"/>
                </a:solidFill>
                <a:latin typeface="Meiryo"/>
              </a:rPr>
              <a:t>網羅性マップ｜実装設計書 v1 → 4カテゴリ完全版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Meiryo"/>
              </a:rPr>
              <a:t>元資料16枚の内容をすべて残し、カテゴリ別に並べ替えている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10972"/>
          </a:xfrm>
          <a:prstGeom prst="rect">
            <a:avLst/>
          </a:prstGeom>
          <a:solidFill>
            <a:srgbClr val="DEE6EE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874519" cy="749808"/>
          </a:xfrm>
          <a:prstGeom prst="roundRect">
            <a:avLst/>
          </a:prstGeom>
          <a:solidFill>
            <a:srgbClr val="1C3A5B"/>
          </a:solidFill>
          <a:ln>
            <a:solidFill>
              <a:srgbClr val="1C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472184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共通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1417320"/>
            <a:ext cx="42976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444752"/>
            <a:ext cx="397763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2F3A"/>
                </a:solidFill>
                <a:latin typeface="Meiryo"/>
              </a:rPr>
              <a:t>1. 表紙 / 2. 前回までの合意・今回補完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17320"/>
            <a:ext cx="45262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1444752"/>
            <a:ext cx="4160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52F3A"/>
                </a:solidFill>
                <a:latin typeface="Meiryo"/>
              </a:rPr>
              <a:t>全体前提として冒頭に保持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874519" cy="749808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386584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① 画面・UI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" y="2331720"/>
            <a:ext cx="42976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359151"/>
            <a:ext cx="397763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2F3A"/>
                </a:solidFill>
                <a:latin typeface="Meiryo"/>
              </a:rPr>
              <a:t>4. 画面設計 / ルーティング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331720"/>
            <a:ext cx="45262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359151"/>
            <a:ext cx="4160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52F3A"/>
                </a:solidFill>
                <a:latin typeface="Meiryo"/>
              </a:rPr>
              <a:t>5画面・URL・責務をそのまま保持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1874519" cy="749808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300984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② データ・DB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78608" y="3246120"/>
            <a:ext cx="42976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3273551"/>
            <a:ext cx="397763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2F3A"/>
                </a:solidFill>
                <a:latin typeface="Meiryo"/>
              </a:rPr>
              <a:t>8. DB設計 / 9. 保存ルール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246120"/>
            <a:ext cx="45262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273551"/>
            <a:ext cx="4160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52F3A"/>
                </a:solidFill>
                <a:latin typeface="Meiryo"/>
              </a:rPr>
              <a:t>テーブル構造・Snapshot固定ルールを保持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60520"/>
            <a:ext cx="1874519" cy="749808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215383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③ 処理・API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4160520"/>
            <a:ext cx="42976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0" y="4187952"/>
            <a:ext cx="397763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2F3A"/>
                </a:solidFill>
                <a:latin typeface="Meiryo"/>
              </a:rPr>
              <a:t>5. 主要処理フロー / 10. API・Service / 11. 外部Provider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160520"/>
            <a:ext cx="45262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4187952"/>
            <a:ext cx="4160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52F3A"/>
                </a:solidFill>
                <a:latin typeface="Meiryo"/>
              </a:rPr>
              <a:t>ユーザー操作→取得→AI→保存→比較まで保持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874519" cy="74980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29783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④ システム・非機能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78608" y="5074920"/>
            <a:ext cx="42976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5102352"/>
            <a:ext cx="397763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2F3A"/>
                </a:solidFill>
                <a:latin typeface="Meiryo"/>
              </a:rPr>
              <a:t>3. 全体構成 / 6. 技術 / 7. ディレクトリ / 12. セキュリティ / 13. テスト / 14. Claude Code / 15. 実装順 / 16. 完成条件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074920"/>
            <a:ext cx="452628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5102352"/>
            <a:ext cx="4160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52F3A"/>
                </a:solidFill>
                <a:latin typeface="Meiryo"/>
              </a:rPr>
              <a:t>実装基盤・品質・開発ルールまで保持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11064240" cy="457200"/>
          </a:xfrm>
          <a:prstGeom prst="roundRect">
            <a:avLst/>
          </a:prstGeom>
          <a:solidFill>
            <a:srgbClr val="F6F3EB"/>
          </a:solidFill>
          <a:ln>
            <a:solidFill>
              <a:srgbClr val="E4D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6062472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B87745"/>
                </a:solidFill>
                <a:latin typeface="Meiryo"/>
              </a:rPr>
              <a:t>結論：要約版ではなく「元の16枚をすべて残した上で、4カテゴリの章立てを追加」した完全版。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88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4300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76795"/>
                </a:solidFill>
                <a:latin typeface="Meiryo"/>
              </a:rPr>
              <a:t>画面・UI設計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874519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F3A"/>
                </a:solidFill>
                <a:latin typeface="Meiryo"/>
              </a:rPr>
              <a:t>ユーザーは何を見て、どの順番でアプリを使うか？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953512"/>
            <a:ext cx="109728" cy="109728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862072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HOME → THEME → STOCK → SET → REVIEW の5画面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575304"/>
            <a:ext cx="109728" cy="109728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3483864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各画面のURLと責務を固定する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4197096"/>
            <a:ext cx="109728" cy="109728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4105656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画面構造は変えても「分析→保存→振り返り」の流れは変えない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608076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707C"/>
                </a:solidFill>
                <a:latin typeface="Meiryo"/>
              </a:rPr>
              <a:t>この章の内容を実装できれば、該当カテゴリは「設計 → 実装」へ進める。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画面設計 / ルーティング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MVPの5画面をそのままURL構造に落とす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05740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2084831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1170432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837943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246120"/>
            <a:ext cx="1728216" cy="8686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Meiryo"/>
              </a:rPr>
              <a:t>登録テーマ一覧
最近の変化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3310128"/>
            <a:ext cx="274320" cy="0"/>
          </a:xfrm>
          <a:prstGeom prst="line">
            <a:avLst/>
          </a:prstGeom>
          <a:ln w="2032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44368" y="1874519"/>
            <a:ext cx="2057400" cy="28803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79" y="2084831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79" y="2084831"/>
            <a:ext cx="1170432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606040"/>
            <a:ext cx="1837943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/themes/[id]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46120"/>
            <a:ext cx="1728216" cy="8686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Meiryo"/>
              </a:rPr>
              <a:t>5〜10銘柄
同じ軸で比較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0055" y="3310128"/>
            <a:ext cx="274321" cy="0"/>
          </a:xfrm>
          <a:prstGeom prst="line">
            <a:avLst/>
          </a:prstGeom>
          <a:ln w="2032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48656" y="1874519"/>
            <a:ext cx="205740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87568" y="2084831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87568" y="2084831"/>
            <a:ext cx="1170432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606040"/>
            <a:ext cx="1837943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/stocks/[code]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246120"/>
            <a:ext cx="1728216" cy="8686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Meiryo"/>
              </a:rPr>
              <a:t>注目理由
主要指標 / リスク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24344" y="3310128"/>
            <a:ext cx="274320" cy="0"/>
          </a:xfrm>
          <a:prstGeom prst="line">
            <a:avLst/>
          </a:prstGeom>
          <a:ln w="2032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52944" y="1874519"/>
            <a:ext cx="2057400" cy="28803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91856" y="2084831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91856" y="2084831"/>
            <a:ext cx="1170432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606040"/>
            <a:ext cx="1837943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/analysis/[id]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3246120"/>
            <a:ext cx="1728216" cy="8686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Meiryo"/>
              </a:rPr>
              <a:t>複数銘柄
分析時点を保存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28632" y="3310128"/>
            <a:ext cx="274320" cy="0"/>
          </a:xfrm>
          <a:prstGeom prst="line">
            <a:avLst/>
          </a:prstGeom>
          <a:ln w="2032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57232" y="1874519"/>
            <a:ext cx="205740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96144" y="2084831"/>
            <a:ext cx="1170432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96144" y="2084831"/>
            <a:ext cx="1170432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2606040"/>
            <a:ext cx="1837943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/review/[id]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3246120"/>
            <a:ext cx="1728216" cy="8686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263446"/>
                </a:solidFill>
                <a:latin typeface="Meiryo"/>
              </a:rPr>
              <a:t>分析時点 vs 現在
振り返り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166360"/>
            <a:ext cx="10607040" cy="49377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80" b="0">
                <a:solidFill>
                  <a:srgbClr val="6B7B8C"/>
                </a:solidFill>
                <a:latin typeface="Meiryo"/>
              </a:rPr>
              <a:t>※ URLは実装時に多少変更してもよい。ただし「5画面の責務」と「分析時点を保存してから振り返る流れ」は変えない。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① 画面・UI設計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88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4300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0827C"/>
                </a:solidFill>
                <a:latin typeface="Meiryo"/>
              </a:rPr>
              <a:t>データ・DB設計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874519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F3A"/>
                </a:solidFill>
                <a:latin typeface="Meiryo"/>
              </a:rPr>
              <a:t>何を保存し、どのデータを「当時の状態」として残すか？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953512"/>
            <a:ext cx="109728" cy="109728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862072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themes / stocks / analysis_sets / analysis_items / snapshots /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575304"/>
            <a:ext cx="109728" cy="109728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3483864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分析時点の株価・指標・AI分析・情報源をSnapshotとして固定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4197096"/>
            <a:ext cx="109728" cy="109728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4105656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過去データを現在値で上書きしない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608076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707C"/>
                </a:solidFill>
                <a:latin typeface="Meiryo"/>
              </a:rPr>
              <a:t>この章の内容を実装できれば、該当カテゴリは「設計 → 実装」へ進める。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DB設計｜MVPの最小構成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「テーマ」「分析セット」「固定Snapshot」を中心にする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74519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91640"/>
            <a:ext cx="1655063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1600199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id
name
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160520"/>
            <a:ext cx="1655063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9704"/>
            <a:ext cx="1600199" cy="82295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code
name
industry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6974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2968" y="2788920"/>
            <a:ext cx="1837943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theme_stocks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18104"/>
            <a:ext cx="1783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theme_id
stock_code
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50876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1600200"/>
            <a:ext cx="1929384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analysis_sets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929384"/>
            <a:ext cx="1874520" cy="9601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id
theme_id
title
analyzed_at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79476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3886200"/>
            <a:ext cx="1929384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analysis_items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215384"/>
            <a:ext cx="1874520" cy="11887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set_id
stock_code
ai_summary
scores /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874519"/>
            <a:ext cx="2331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67928" y="1965960"/>
            <a:ext cx="2112263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stock_snapshots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95144"/>
            <a:ext cx="2057400" cy="12801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analysis_item_id
price / PER / PBR
ROE / profit_yoy
captured_at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251960"/>
            <a:ext cx="23317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67928" y="4343400"/>
            <a:ext cx="2112263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375D"/>
                </a:solidFill>
                <a:latin typeface="Meiryo"/>
              </a:rPr>
              <a:t>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672584"/>
            <a:ext cx="205740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63446"/>
                </a:solidFill>
                <a:latin typeface="Meiryo"/>
              </a:rPr>
              <a:t>analysis_item_id
source / url
published_at / fetched_at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2176272"/>
            <a:ext cx="502920" cy="868680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560320" y="3493008"/>
            <a:ext cx="502920" cy="1170432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20640" y="2331720"/>
            <a:ext cx="457200" cy="914400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56832" y="2971800"/>
            <a:ext cx="0" cy="822960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26679" y="2834640"/>
            <a:ext cx="731521" cy="1691640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26679" y="4754880"/>
            <a:ext cx="731521" cy="137160"/>
          </a:xfrm>
          <a:prstGeom prst="line">
            <a:avLst/>
          </a:prstGeom>
          <a:ln w="1524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" y="5925312"/>
            <a:ext cx="1051560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60" b="1">
                <a:solidFill>
                  <a:srgbClr val="9A4D53"/>
                </a:solidFill>
                <a:latin typeface="Meiryo"/>
              </a:rPr>
              <a:t>重要：analysis_sets / items / snapshots は「当時の状態」を保持する履歴。最新値で上書きしない。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② データ・DB設計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保存ルール｜分析時点と現在を混ぜない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このアプリの価値を守るための最重要ルール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FBF1E5"/>
          </a:solidFill>
          <a:ln w="12700">
            <a:solidFill>
              <a:srgbClr val="FB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1856231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56231"/>
            <a:ext cx="150876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A96C25"/>
                </a:solidFill>
                <a:latin typeface="Meiryo"/>
              </a:rPr>
              <a:t>分析時点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45262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A375D"/>
                </a:solidFill>
                <a:latin typeface="Meiryo"/>
              </a:rPr>
              <a:t>保存して固定するもの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4480560" cy="22860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分析日時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株価 / PER / PBR / ROE / 業績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AI要約・評価・リスク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参照した情報源と公開日 / 取得日時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ユーザーの振り返りメモ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321808"/>
            <a:ext cx="44348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70" b="1">
                <a:solidFill>
                  <a:srgbClr val="9A4D53"/>
                </a:solidFill>
                <a:latin typeface="Meiryo"/>
              </a:rPr>
              <a:t>UPDATE禁止 → 新しい分析は新しいセットとして作成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1270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11112" y="1856231"/>
            <a:ext cx="137160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856231"/>
            <a:ext cx="13716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3E7C6B"/>
                </a:solidFill>
                <a:latin typeface="Meiryo"/>
              </a:rPr>
              <a:t>現在データ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45262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A375D"/>
                </a:solidFill>
                <a:latin typeface="Meiryo"/>
              </a:rPr>
              <a:t>REVIEW時に再取得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761488"/>
            <a:ext cx="4480560" cy="22860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現在株価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現在の主要指標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直近の決算 / 開示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分析時点からの変化率</a:t>
            </a:r>
          </a:p>
          <a:p>
            <a:pPr>
              <a:spcAft>
                <a:spcPts val="700"/>
              </a:spcAft>
              <a:defRPr sz="1300">
                <a:solidFill>
                  <a:srgbClr val="263446"/>
                </a:solidFill>
                <a:latin typeface="Meiryo"/>
              </a:defRPr>
            </a:pPr>
            <a:r>
              <a:t>• 当時の根拠が今どう見えるか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5321808"/>
            <a:ext cx="44348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70" b="1">
                <a:solidFill>
                  <a:srgbClr val="3E7C6B"/>
                </a:solidFill>
                <a:latin typeface="Meiryo"/>
              </a:rPr>
              <a:t>比較表示に使うだけ。過去Snapshotは変更しない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79008" y="3703320"/>
            <a:ext cx="576072" cy="0"/>
          </a:xfrm>
          <a:prstGeom prst="line">
            <a:avLst/>
          </a:prstGeom>
          <a:ln w="25400">
            <a:solidFill>
              <a:srgbClr val="4A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42432" y="3246120"/>
            <a:ext cx="658368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Meiryo"/>
              </a:rPr>
              <a:t>比較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40827C"/>
          </a:solidFill>
          <a:ln>
            <a:solidFill>
              <a:srgbClr val="4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② データ・DB設計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88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4300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B87745"/>
                </a:solidFill>
                <a:latin typeface="Meiryo"/>
              </a:rPr>
              <a:t>処理・API設計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874519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F3A"/>
                </a:solidFill>
                <a:latin typeface="Meiryo"/>
              </a:rPr>
              <a:t>画面操作の裏側で、取得・整理・保存・比較をどう流すか？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953512"/>
            <a:ext cx="109728" cy="109728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862072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テーマ選択 → データ取得 → 比較 → AI整理 → Snapshot保存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575304"/>
            <a:ext cx="109728" cy="109728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3483864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Route Handlerは入口、Serviceに業務ロジックを置く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4197096"/>
            <a:ext cx="109728" cy="109728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4105656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外部APIはProviderで吸収し、アプリ独自の型へ統一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608076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707C"/>
                </a:solidFill>
                <a:latin typeface="Meiryo"/>
              </a:rPr>
              <a:t>この章の内容を実装できれば、該当カテゴリは「設計 → 実装」へ進める。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主要処理フロー｜分析セットを作る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ユーザー操作 → データ取得 → AI整理 → 固定保存までを1本の流れで捉える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88720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テーマ選択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HOME/THEME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40864" y="3182112"/>
            <a:ext cx="201168" cy="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0320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39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39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候補銘柄表示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株価・財務・開示取得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15383" y="3182112"/>
            <a:ext cx="201169" cy="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34840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5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銘柄を確認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5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同じ評価軸で比較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9904" y="3182112"/>
            <a:ext cx="201167" cy="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59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12279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79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5〜10銘柄を選択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5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SET作成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64423" y="3182112"/>
            <a:ext cx="201169" cy="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AI要約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注目理由 / リスク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38944" y="3182112"/>
            <a:ext cx="201167" cy="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58400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61320" y="22677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22677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6416" y="2770632"/>
            <a:ext cx="137160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1A375D"/>
                </a:solidFill>
                <a:latin typeface="Meiryo"/>
              </a:rPr>
              <a:t>Snapshot保存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6416" y="3300984"/>
            <a:ext cx="1371600" cy="56692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30" b="0">
                <a:solidFill>
                  <a:srgbClr val="263446"/>
                </a:solidFill>
                <a:latin typeface="Meiryo"/>
              </a:rPr>
              <a:t>株価・指標・AI・情報源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" y="4892040"/>
            <a:ext cx="10149840" cy="758952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1270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70432" y="5010912"/>
            <a:ext cx="982980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30" b="1">
                <a:solidFill>
                  <a:srgbClr val="3E7C6B"/>
                </a:solidFill>
                <a:latin typeface="Meiryo"/>
              </a:rPr>
              <a:t>保存後の分析セットは不変。REVIEWでは「保存済みSnapshot」と「現在の取得データ」を比較する。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③ 処理・API設計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API / Service設計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画面は薄く、判断・保存ロジックはServiceに置く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2606040" cy="475488"/>
          </a:xfrm>
          <a:prstGeom prst="rect">
            <a:avLst/>
          </a:prstGeom>
          <a:solidFill>
            <a:srgbClr val="1A375D"/>
          </a:solidFill>
          <a:ln w="1270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260604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</a:rPr>
              <a:t>画面からの操作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72768"/>
            <a:ext cx="2743200" cy="475488"/>
          </a:xfrm>
          <a:prstGeom prst="rect">
            <a:avLst/>
          </a:prstGeom>
          <a:solidFill>
            <a:srgbClr val="1A375D"/>
          </a:solidFill>
          <a:ln w="1270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572768"/>
            <a:ext cx="274320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</a:rPr>
              <a:t>Route Handler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72768"/>
            <a:ext cx="2743200" cy="475488"/>
          </a:xfrm>
          <a:prstGeom prst="rect">
            <a:avLst/>
          </a:prstGeom>
          <a:solidFill>
            <a:srgbClr val="1A375D"/>
          </a:solidFill>
          <a:ln w="1270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274320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</a:rPr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572768"/>
            <a:ext cx="2194560" cy="475488"/>
          </a:xfrm>
          <a:prstGeom prst="rect">
            <a:avLst/>
          </a:prstGeom>
          <a:solidFill>
            <a:srgbClr val="1A375D"/>
          </a:solidFill>
          <a:ln w="1270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1572768"/>
            <a:ext cx="2194560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</a:rPr>
              <a:t>Repository /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48256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2093976"/>
            <a:ext cx="249631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テーマ一覧を見る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4825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9584" y="2093976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GET /api/themes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4825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2093976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1">
                <a:solidFill>
                  <a:srgbClr val="1A375D"/>
                </a:solidFill>
                <a:latin typeface="Meiryo"/>
              </a:rPr>
              <a:t>listThemes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048256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6024" y="2093976"/>
            <a:ext cx="2084831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themeRepository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761488"/>
            <a:ext cx="260604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2807208"/>
            <a:ext cx="249631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テーマの銘柄を見る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761488"/>
            <a:ext cx="274320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9584" y="2807208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GET /api/themes/:id/stocks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761488"/>
            <a:ext cx="274320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2807208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1">
                <a:solidFill>
                  <a:srgbClr val="1A375D"/>
                </a:solidFill>
                <a:latin typeface="Meiryo"/>
              </a:rPr>
              <a:t>getThemeStocks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761488"/>
            <a:ext cx="219456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6024" y="2807208"/>
            <a:ext cx="2084831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marketDataProvider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7472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3520440"/>
            <a:ext cx="249631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銘柄詳細を見る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47472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9584" y="3520440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GET /api/stocks/:code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7472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55664" y="3520440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1">
                <a:solidFill>
                  <a:srgbClr val="1A375D"/>
                </a:solidFill>
                <a:latin typeface="Meiryo"/>
              </a:rPr>
              <a:t>getStockDetail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3474720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36024" y="3520440"/>
            <a:ext cx="2084831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market + disclosure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187952"/>
            <a:ext cx="260604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4233672"/>
            <a:ext cx="249631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分析セット保存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187952"/>
            <a:ext cx="274320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29584" y="4233672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POST /api/analysis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187952"/>
            <a:ext cx="274320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55664" y="4233672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1">
                <a:solidFill>
                  <a:srgbClr val="1A375D"/>
                </a:solidFill>
                <a:latin typeface="Meiryo"/>
              </a:rPr>
              <a:t>createAnalysisSet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4187952"/>
            <a:ext cx="2194560" cy="713232"/>
          </a:xfrm>
          <a:prstGeom prst="rect">
            <a:avLst/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36024" y="4233672"/>
            <a:ext cx="2084831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DB + AI + sources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901184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0664" y="4946904"/>
            <a:ext cx="249631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振り返り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90118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29584" y="4946904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GET /api/review/:id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90118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55664" y="4946904"/>
            <a:ext cx="2633472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1">
                <a:solidFill>
                  <a:srgbClr val="1A375D"/>
                </a:solidFill>
                <a:latin typeface="Meiryo"/>
              </a:rPr>
              <a:t>buildReview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4901184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36024" y="4946904"/>
            <a:ext cx="2084831" cy="6217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10" b="0">
                <a:solidFill>
                  <a:srgbClr val="263446"/>
                </a:solidFill>
                <a:latin typeface="Meiryo"/>
              </a:rPr>
              <a:t>snapshot + current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104241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70" b="1">
                <a:solidFill>
                  <a:srgbClr val="1A375D"/>
                </a:solidFill>
                <a:latin typeface="Meiryo"/>
              </a:rPr>
              <a:t>例：POST /api/analysis の中で「入力検証 → データ取得 → AI要約 → DB保存」を順番に制御する。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③ 処理・API設計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外部連携設計｜Providerで差し替え可能にする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具体的なAPIが変わってもアプリ本体を書き直さない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46888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011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A375D"/>
                </a:solidFill>
                <a:latin typeface="Meiryo"/>
              </a:rPr>
              <a:t>MarketDataProvider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61488"/>
            <a:ext cx="2066543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株価 / PER / PBR / ROE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456432"/>
            <a:ext cx="182880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8408" y="3730752"/>
            <a:ext cx="2066543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接続候補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096512"/>
            <a:ext cx="2066543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63446"/>
                </a:solidFill>
                <a:latin typeface="Meiryo"/>
              </a:rPr>
              <a:t>J-Quants等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2468880" cy="31546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94760" y="2103120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103120"/>
            <a:ext cx="2011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A375D"/>
                </a:solidFill>
                <a:latin typeface="Meiryo"/>
              </a:rPr>
              <a:t>DisclosureProvider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761488"/>
            <a:ext cx="2066543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決算 / 業績修正 / 開示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6200" y="3456432"/>
            <a:ext cx="182880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67328" y="3730752"/>
            <a:ext cx="2066543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接続候補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096512"/>
            <a:ext cx="2066543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63446"/>
                </a:solidFill>
                <a:latin typeface="Meiryo"/>
              </a:rPr>
              <a:t>EDINET等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1874519"/>
            <a:ext cx="246888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79" y="2103120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2103120"/>
            <a:ext cx="2011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A375D"/>
                </a:solidFill>
                <a:latin typeface="Meiryo"/>
              </a:rPr>
              <a:t>NewsProvider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2761488"/>
            <a:ext cx="2066543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重要イベント / ニュース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19" y="3456432"/>
            <a:ext cx="182880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56247" y="3730752"/>
            <a:ext cx="2066543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接続候補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7" y="4096512"/>
            <a:ext cx="2066543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63446"/>
                </a:solidFill>
                <a:latin typeface="Meiryo"/>
              </a:rPr>
              <a:t>MVPでは必要最小限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874519"/>
            <a:ext cx="2468880" cy="31546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72600" y="2103120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2103120"/>
            <a:ext cx="2011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A375D"/>
                </a:solidFill>
                <a:latin typeface="Meiryo"/>
              </a:rPr>
              <a:t>AiProvider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761488"/>
            <a:ext cx="2066543" cy="47548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要約 / リスク説明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3456432"/>
            <a:ext cx="182880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45168" y="3730752"/>
            <a:ext cx="2066543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接続候補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4096512"/>
            <a:ext cx="2066543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63446"/>
                </a:solidFill>
                <a:latin typeface="Meiryo"/>
              </a:rPr>
              <a:t>Claude / OpenAI等を交換可能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5440680"/>
            <a:ext cx="10195560" cy="5029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5522976"/>
            <a:ext cx="99212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30" b="1">
                <a:solidFill>
                  <a:srgbClr val="1A375D"/>
                </a:solidFill>
                <a:latin typeface="Meiryo"/>
              </a:rPr>
              <a:t>Providerの戻り値はアプリ独自の型に統一 → 外部サービス固有の形式を画面やDBに漏らさない。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B87745"/>
          </a:solidFill>
          <a:ln>
            <a:solidFill>
              <a:srgbClr val="B8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③ 処理・API設計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88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4300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695B91"/>
                </a:solidFill>
                <a:latin typeface="Meiryo"/>
              </a:rPr>
              <a:t>システム・非機能設計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874519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F3A"/>
                </a:solidFill>
                <a:latin typeface="Meiryo"/>
              </a:rPr>
              <a:t>アプリ全体をどう安全・保守可能・学習しやすく作るか？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953512"/>
            <a:ext cx="109728" cy="10972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862072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Next.js / TypeScript / Supabaseを中心とした構成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575304"/>
            <a:ext cx="109728" cy="10972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3483864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UI・Service・Repository・Providerの責務分離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4197096"/>
            <a:ext cx="109728" cy="10972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4105656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秘密情報・外部API障害・テスト・Claude Code運用ルール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4818888"/>
            <a:ext cx="109728" cy="109728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4727448"/>
            <a:ext cx="79552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F3A"/>
                </a:solidFill>
                <a:latin typeface="Meiryo"/>
              </a:rPr>
              <a:t>途中でも毎回動く状態を維持する実装ロードマップ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608076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707C"/>
                </a:solidFill>
                <a:latin typeface="Meiryo"/>
              </a:rPr>
              <a:t>この章の内容を実装できれば、該当カテゴリは「設計 → 実装」へ進める。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システム構成｜全体像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「画面」「業務ロジック」「保存」「外部データ」を分けて、後から差し替えやすくする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9659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975104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Meiryo"/>
              </a:rPr>
              <a:t>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163677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Browser /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43200"/>
            <a:ext cx="1636776" cy="101498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5画面を表示
ユーザー操作
結果の可視化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508760"/>
            <a:ext cx="2240280" cy="269748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27832" y="1655063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1655063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A375D"/>
                </a:solidFill>
                <a:latin typeface="Meiryo"/>
              </a:rPr>
              <a:t>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039112"/>
            <a:ext cx="191109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Next.js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423160"/>
            <a:ext cx="1911096" cy="165506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Route / Server処理
入力検証
画面とAPIの接点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508760"/>
            <a:ext cx="224028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79592" y="1655063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1655063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3E7C6B"/>
                </a:solidFill>
                <a:latin typeface="Meiryo"/>
              </a:rPr>
              <a:t>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039112"/>
            <a:ext cx="191109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2423160"/>
            <a:ext cx="1911096" cy="165506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分析セット保存
比較処理
AI要約の制御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508760"/>
            <a:ext cx="2240280" cy="269748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31352" y="1655063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1655063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A96C25"/>
                </a:solidFill>
                <a:latin typeface="Meiryo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039112"/>
            <a:ext cx="191109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Repository / 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423160"/>
            <a:ext cx="1911096" cy="165506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DBアクセス
外部API呼び出し
データ形式を統一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2834640"/>
            <a:ext cx="411480" cy="0"/>
          </a:xfrm>
          <a:prstGeom prst="line">
            <a:avLst/>
          </a:prstGeom>
          <a:ln w="25400">
            <a:solidFill>
              <a:srgbClr val="4A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834640"/>
            <a:ext cx="411480" cy="0"/>
          </a:xfrm>
          <a:prstGeom prst="line">
            <a:avLst/>
          </a:prstGeom>
          <a:ln w="25400">
            <a:solidFill>
              <a:srgbClr val="4A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55279" y="2834640"/>
            <a:ext cx="411481" cy="0"/>
          </a:xfrm>
          <a:prstGeom prst="line">
            <a:avLst/>
          </a:prstGeom>
          <a:ln w="25400">
            <a:solidFill>
              <a:srgbClr val="4A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" y="4800600"/>
            <a:ext cx="2011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919472"/>
            <a:ext cx="182880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50" b="1">
                <a:solidFill>
                  <a:srgbClr val="1A375D"/>
                </a:solidFill>
                <a:latin typeface="Meiryo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12080"/>
            <a:ext cx="182880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テーマ / 銘柄 / 履歴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800600"/>
            <a:ext cx="2011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4919472"/>
            <a:ext cx="182880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50" b="1">
                <a:solidFill>
                  <a:srgbClr val="1A375D"/>
                </a:solidFill>
                <a:latin typeface="Meiryo"/>
              </a:rPr>
              <a:t>株価・財務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212080"/>
            <a:ext cx="182880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J-Quants候補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4800600"/>
            <a:ext cx="2011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52159" y="4919472"/>
            <a:ext cx="182880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50" b="1">
                <a:solidFill>
                  <a:srgbClr val="1A375D"/>
                </a:solidFill>
                <a:latin typeface="Meiryo"/>
              </a:rPr>
              <a:t>開示・ニュース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59" y="5212080"/>
            <a:ext cx="182880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EDINET等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4800600"/>
            <a:ext cx="2011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19" y="4919472"/>
            <a:ext cx="182880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50" b="1">
                <a:solidFill>
                  <a:srgbClr val="1A375D"/>
                </a:solidFill>
                <a:latin typeface="Meiryo"/>
              </a:rPr>
              <a:t>AI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5212080"/>
            <a:ext cx="182880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6B7B8C"/>
                </a:solidFill>
                <a:latin typeface="Meiryo"/>
              </a:rPr>
              <a:t>要約・説明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82328" y="4206240"/>
            <a:ext cx="0" cy="548640"/>
          </a:xfrm>
          <a:prstGeom prst="line">
            <a:avLst/>
          </a:prstGeom>
          <a:ln w="1778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920240" y="4800600"/>
            <a:ext cx="7562088" cy="0"/>
          </a:xfrm>
          <a:prstGeom prst="line">
            <a:avLst/>
          </a:prstGeom>
          <a:ln w="1397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920240" y="4590288"/>
            <a:ext cx="0" cy="210312"/>
          </a:xfrm>
          <a:prstGeom prst="line">
            <a:avLst/>
          </a:prstGeom>
          <a:ln w="1397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343400" y="4590288"/>
            <a:ext cx="0" cy="210312"/>
          </a:xfrm>
          <a:prstGeom prst="line">
            <a:avLst/>
          </a:prstGeom>
          <a:ln w="1397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766560" y="4590288"/>
            <a:ext cx="0" cy="210312"/>
          </a:xfrm>
          <a:prstGeom prst="line">
            <a:avLst/>
          </a:prstGeom>
          <a:ln w="1397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189720" y="4590288"/>
            <a:ext cx="0" cy="210312"/>
          </a:xfrm>
          <a:prstGeom prst="line">
            <a:avLst/>
          </a:prstGeom>
          <a:ln w="1397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77240" y="5907024"/>
            <a:ext cx="1060704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80" b="1">
                <a:solidFill>
                  <a:srgbClr val="1A375D"/>
                </a:solidFill>
                <a:latin typeface="Meiryo"/>
              </a:rPr>
              <a:t>ポイント：画面から外部APIを直接呼ばない。Provider層で吸収することで、API変更時の影響を局所化する。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技術スタック｜MVP実装案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初心者でも追いやすく、Claude Codeで実装しやすい構成を優先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85623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Next.js / React
TypeScript
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2549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画面 / ルーティング /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9164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79392" y="185623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85623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25856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Next.js Server
Route Handlers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82549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API入口 / 検証 / 認可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9164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62671" y="185623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1" y="185623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225856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Supabase
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82549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テーマ / 銘柄 / 分析履歴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" y="395935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95935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6168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Provider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2861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J-Quants / EDINET / News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79476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79392" y="395935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395935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36168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AI 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92861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要約 / リスク説明 / 比較補助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794760"/>
            <a:ext cx="28803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62671" y="395935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62671" y="3959352"/>
            <a:ext cx="96012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A375D"/>
                </a:solidFill>
                <a:latin typeface="Meiryo"/>
              </a:rPr>
              <a:t>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4361688"/>
            <a:ext cx="2542032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375D"/>
                </a:solidFill>
                <a:latin typeface="Meiryo"/>
              </a:rPr>
              <a:t>Vercel候補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4928616"/>
            <a:ext cx="254203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80" b="0">
                <a:solidFill>
                  <a:srgbClr val="6B7B8C"/>
                </a:solidFill>
                <a:latin typeface="Meiryo"/>
              </a:rPr>
              <a:t>MVP公開 / 環境変数管理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ディレクトリ設計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「どこに何を書くか」を固定して、Claude Codeの変更範囲を読みやすくする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669280" cy="455371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5138928" cy="4069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20" b="0">
                <a:solidFill>
                  <a:srgbClr val="263446"/>
                </a:solidFill>
                <a:latin typeface="Consolas"/>
              </a:rPr>
              <a:t>src/
├─ app/                 # 画面とRoute Handler
│  ├─ page.tsx          # HOME
│  ├─ themes/[id]/
│  ├─ stocks/[code]/
│  ├─ analysis/[id]/
│  ├─ review/[id]/
│  └─ api/
├─ components/          # 再利用UI
├─ lib/
│  ├─ services/         # 業務ロジック
│  ├─ repositories/     # DBアクセス
│  ├─ providers/        # 外部API / AI
│  └─ validators/       # 入力検証
├─ types/               # 型定義
└─ tests/               # テスト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00200"/>
            <a:ext cx="47091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93992" y="1746504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1746504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Meiryo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130552"/>
            <a:ext cx="437997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app /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514600"/>
            <a:ext cx="4379976" cy="3657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ユーザーから見える部分。最初に触る場所。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852928"/>
            <a:ext cx="47091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93992" y="2999232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93992" y="2999232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Meiryo"/>
              </a:rP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383280"/>
            <a:ext cx="437997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767328"/>
            <a:ext cx="4379976" cy="3657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「分析セットを保存する」など、アプリ固有の処理。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105656"/>
            <a:ext cx="47091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93992" y="4251960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4251960"/>
            <a:ext cx="1051560" cy="2926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Meiryo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636008"/>
            <a:ext cx="4379976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</a:rPr>
              <a:t>repositories / 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5020056"/>
            <a:ext cx="4379976" cy="3657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263446"/>
                </a:solidFill>
                <a:latin typeface="Meiryo"/>
              </a:rPr>
              <a:t>DB・外部APIという“外の世界”との接点。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413248"/>
            <a:ext cx="45262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A375D"/>
                </a:solidFill>
                <a:latin typeface="Meiryo"/>
              </a:rPr>
              <a:t>初心者がまず理解する順：
app → service → provider/repository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エラー処理 / セキュリティ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MVPでも「秘密情報」と「外部API障害」は最初から設計に入れる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069080"/>
          </a:xfrm>
          <a:prstGeom prst="roundRect">
            <a:avLst>
              <a:gd name="adj" fmla="val 12000"/>
            </a:avLst>
          </a:prstGeom>
          <a:solidFill>
            <a:srgbClr val="FAECEE"/>
          </a:solidFill>
          <a:ln w="12700"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993392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150876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9A4D53"/>
                </a:solidFill>
                <a:latin typeface="Meiryo"/>
              </a:rPr>
              <a:t>秘密情報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78608"/>
            <a:ext cx="2907792" cy="2468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APIキーは .env.local / Vercel環境変数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ブラウザに秘密鍵を渡さない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Gitへ .env をコミットしない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429000" cy="4069080"/>
          </a:xfrm>
          <a:prstGeom prst="roundRect">
            <a:avLst>
              <a:gd name="adj" fmla="val 12000"/>
            </a:avLst>
          </a:prstGeom>
          <a:solidFill>
            <a:srgbClr val="FBF1E5"/>
          </a:solidFill>
          <a:ln w="12700">
            <a:solidFill>
              <a:srgbClr val="FB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1993392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150876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A96C25"/>
                </a:solidFill>
                <a:latin typeface="Meiryo"/>
              </a:rPr>
              <a:t>外部API障害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578608"/>
            <a:ext cx="2907792" cy="2468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1つ失敗しても全画面を落とさない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取得できない項目は「未取得」と表示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保存済みSnapshotは常に閲覧可能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737360"/>
            <a:ext cx="3429000" cy="4069080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1270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59" y="1993392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1993392"/>
            <a:ext cx="150876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3E7C6B"/>
                </a:solidFill>
                <a:latin typeface="Meiryo"/>
              </a:rPr>
              <a:t>入力 / データ品質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578608"/>
            <a:ext cx="2907792" cy="2468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銘柄コード・IDをサーバー側で検証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情報源 / 公開日 / 取得日時を保持</a:t>
            </a:r>
          </a:p>
          <a:p>
            <a:pPr>
              <a:spcAft>
                <a:spcPts val="700"/>
              </a:spcAft>
              <a:defRPr sz="1240">
                <a:solidFill>
                  <a:srgbClr val="263446"/>
                </a:solidFill>
                <a:latin typeface="Meiryo"/>
              </a:defRPr>
            </a:pPr>
            <a:r>
              <a:t>• AI出力も出典データと紐づける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98464"/>
            <a:ext cx="103784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40" b="1">
                <a:solidFill>
                  <a:srgbClr val="1A375D"/>
                </a:solidFill>
                <a:latin typeface="Meiryo"/>
              </a:rPr>
              <a:t>AIの回答は「参考情報」。売買判断そのものを自動化しない。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テスト設計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Claude Codeに「実装と同時にテスト」を書かせる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102870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70432" y="2020824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020824"/>
            <a:ext cx="11430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947672"/>
            <a:ext cx="29718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計算 / 変換 / 評価ロジック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47672"/>
            <a:ext cx="525780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70" b="0">
                <a:solidFill>
                  <a:srgbClr val="263446"/>
                </a:solidFill>
                <a:latin typeface="Meiryo"/>
              </a:rPr>
              <a:t>例：変化率、指標整形、Providerのmapping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10287000" cy="107899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70432" y="3346704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346704"/>
            <a:ext cx="11430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273552"/>
            <a:ext cx="29718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Service + DB /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273552"/>
            <a:ext cx="525780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70" b="0">
                <a:solidFill>
                  <a:srgbClr val="263446"/>
                </a:solidFill>
                <a:latin typeface="Meiryo"/>
              </a:rPr>
              <a:t>例：分析セットを保存できるか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102870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70432" y="4672583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635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4672583"/>
            <a:ext cx="11430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375D"/>
                </a:solidFill>
                <a:latin typeface="Meiryo"/>
              </a:rPr>
              <a:t>E2E /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599431"/>
            <a:ext cx="29718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5画面の利用フロー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4599431"/>
            <a:ext cx="525780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70" b="0">
                <a:solidFill>
                  <a:srgbClr val="263446"/>
                </a:solidFill>
                <a:latin typeface="Meiryo"/>
              </a:rPr>
              <a:t>例：テーマ→銘柄→保存→振り返り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79008"/>
            <a:ext cx="10287000" cy="475488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1270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5843016"/>
            <a:ext cx="996696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50" b="1">
                <a:solidFill>
                  <a:srgbClr val="3E7C6B"/>
                </a:solidFill>
                <a:latin typeface="Meiryo"/>
              </a:rPr>
              <a:t>MVP完成条件＝要件定義の8項目を実際の画面操作で通せること。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Claude Codeでの開発ルール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「速く作る」＋「何を作ったか説明できる」を両立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73936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682495"/>
            <a:ext cx="22402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実装前に計画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682495"/>
            <a:ext cx="699516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80" b="0">
                <a:solidFill>
                  <a:srgbClr val="263446"/>
                </a:solidFill>
                <a:latin typeface="Meiryo"/>
              </a:rPr>
              <a:t>目的 / 変更ファイル / データの流れを先に説明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05456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2706624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706624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615184"/>
            <a:ext cx="22402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1機能ずつ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615184"/>
            <a:ext cx="699516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80" b="0">
                <a:solidFill>
                  <a:srgbClr val="263446"/>
                </a:solidFill>
                <a:latin typeface="Meiryo"/>
              </a:rPr>
              <a:t>巨大な一括変更を避け、レビュー可能な単位にする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38144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3639312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3547872"/>
            <a:ext cx="22402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既存設計を守る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547872"/>
            <a:ext cx="699516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80" b="0">
                <a:solidFill>
                  <a:srgbClr val="263446"/>
                </a:solidFill>
                <a:latin typeface="Meiryo"/>
              </a:rPr>
              <a:t>変更が必要なら理由を先に説明。勝手に構造変更しない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70832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457200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4480560"/>
            <a:ext cx="22402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テストまで実装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480560"/>
            <a:ext cx="699516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80" b="0">
                <a:solidFill>
                  <a:srgbClr val="263446"/>
                </a:solidFill>
                <a:latin typeface="Meiryo"/>
              </a:rPr>
              <a:t>正常系だけでなく、外部API失敗も確認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03520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0120" y="5504688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621792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5413248"/>
            <a:ext cx="224028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40" b="1">
                <a:solidFill>
                  <a:srgbClr val="1A375D"/>
                </a:solidFill>
                <a:latin typeface="Meiryo"/>
              </a:rPr>
              <a:t>最後に解説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413248"/>
            <a:ext cx="699516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180" b="0">
                <a:solidFill>
                  <a:srgbClr val="263446"/>
                </a:solidFill>
                <a:latin typeface="Meiryo"/>
              </a:rPr>
              <a:t>読むべきコード3か所と、次に変更する場所を説明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263640"/>
            <a:ext cx="1042416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20" b="1">
                <a:solidFill>
                  <a:srgbClr val="1A375D"/>
                </a:solidFill>
                <a:latin typeface="Meiryo"/>
              </a:rPr>
              <a:t>勉強の重点：全行を覚えるより「UI → API → Service → DB/外部API」の流れを説明できること。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実装順序｜Claude Codeで進めるロードマップ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途中段階でも毎回「動く状態」を維持する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7780"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骨組み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Next.js / routes /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1">
                <a:solidFill>
                  <a:srgbClr val="3E7C6B"/>
                </a:solidFill>
                <a:latin typeface="Meiryo"/>
              </a:rPr>
              <a:t>今日ここから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7672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29968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23160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画面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ダミーデータで5画面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76272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UI確認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65576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858768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58768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Supabase / schema / repository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1880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保存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18888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01184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294376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94376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データ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Market / Disclosure provider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47488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実データ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54496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36792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729984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9984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要約 / リスク / 根拠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3096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整理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90104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772400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65592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65592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5552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保存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Analysis + Snapshot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8704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18704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履歴固定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25712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208008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601200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0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比較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9448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Snapshot vs Current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54312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354312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REVIEW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561320" y="3520440"/>
            <a:ext cx="73152" cy="0"/>
          </a:xfrm>
          <a:prstGeom prst="line">
            <a:avLst/>
          </a:prstGeom>
          <a:ln w="12700">
            <a:solidFill>
              <a:srgbClr val="76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0643616" y="1828800"/>
            <a:ext cx="134416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1036808" y="2039112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1A375D"/>
          </a:solidFill>
          <a:ln w="6350"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036808" y="2039112"/>
            <a:ext cx="566928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16768" y="2615184"/>
            <a:ext cx="1197864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20" b="1">
                <a:solidFill>
                  <a:srgbClr val="1A375D"/>
                </a:solidFill>
                <a:latin typeface="Meiryo"/>
              </a:rPr>
              <a:t>仕上げ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35056" y="3218688"/>
            <a:ext cx="1161288" cy="74980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70" b="0">
                <a:solidFill>
                  <a:srgbClr val="263446"/>
                </a:solidFill>
                <a:latin typeface="Meiryo"/>
              </a:rPr>
              <a:t>test / deploy / README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789920" y="4370831"/>
            <a:ext cx="1051560" cy="36576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6350"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789920" y="4370831"/>
            <a:ext cx="10515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6B7B8C"/>
                </a:solidFill>
                <a:latin typeface="Meiryo"/>
              </a:rPr>
              <a:t>MVP完成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5650992"/>
            <a:ext cx="10424160" cy="49377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60" b="1">
                <a:solidFill>
                  <a:srgbClr val="1A375D"/>
                </a:solidFill>
                <a:latin typeface="Meiryo"/>
              </a:rPr>
              <a:t>最初のClaude Codeタスク：プロジェクト構成を確認 → 5画面のルーティングと共通レイアウト → ダミー表示まで。外部API・DB・AIはまだ接続しない。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A375D"/>
                </a:solidFill>
                <a:latin typeface="Meiryo"/>
              </a:rPr>
              <a:t>MVP完成条件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3564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350" b="0">
                <a:solidFill>
                  <a:srgbClr val="263446"/>
                </a:solidFill>
                <a:latin typeface="Meiryo"/>
              </a:rPr>
              <a:t>ここまで動けば、要件定義 → 設計 → 実装が一周する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81360" cy="0"/>
          </a:xfrm>
          <a:prstGeom prst="line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900" b="0">
                <a:solidFill>
                  <a:srgbClr val="6B7B8C"/>
                </a:solidFill>
                <a:latin typeface="Meiryo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1828800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28216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テーマを登録・一覧表示できる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27632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6792" y="1828800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828800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28216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テーマから5〜10銘柄を確認できる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70048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" y="2871216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871216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70632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銘柄の基本分析を見られる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70048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36792" y="2871216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2871216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770632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注目理由をAI要約できる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12463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7552" y="3913631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3913631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813048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複数銘柄を分析セットとして保存できる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12463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36792" y="3913631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1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813048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分析時点のデータを固定保存できる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7552" y="4956048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956048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855464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過去分析を開ける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54880"/>
            <a:ext cx="48463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36792" y="4956048"/>
            <a:ext cx="502920" cy="310896"/>
          </a:xfrm>
          <a:prstGeom prst="roundRect">
            <a:avLst>
              <a:gd name="adj" fmla="val 12000"/>
            </a:avLst>
          </a:prstGeom>
          <a:solidFill>
            <a:srgbClr val="E9F4F0"/>
          </a:solidFill>
          <a:ln w="6350">
            <a:solidFill>
              <a:srgbClr val="E9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4956048"/>
            <a:ext cx="50292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3E7C6B"/>
                </a:solidFill>
                <a:latin typeface="Meiryo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855464"/>
            <a:ext cx="3794760" cy="51206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250" b="1">
                <a:solidFill>
                  <a:srgbClr val="1A375D"/>
                </a:solidFill>
                <a:latin typeface="Meiryo"/>
              </a:rPr>
              <a:t>分析時点と現在を比較できる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5833872"/>
            <a:ext cx="9646920" cy="438912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270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17320" y="5888736"/>
            <a:ext cx="9372600" cy="31089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180" b="1">
                <a:solidFill>
                  <a:srgbClr val="1A375D"/>
                </a:solidFill>
                <a:latin typeface="Meiryo"/>
              </a:rPr>
              <a:t>次フェーズ：事後分析AI → 判断傾向の分析 → 判断支援。自動購入はMVP対象外。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201168"/>
            <a:ext cx="2240280" cy="310896"/>
          </a:xfrm>
          <a:prstGeom prst="roundRect">
            <a:avLst/>
          </a:prstGeom>
          <a:solidFill>
            <a:srgbClr val="695B91"/>
          </a:solidFill>
          <a:ln>
            <a:solidFill>
              <a:srgbClr val="6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④ システム・非機能設計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384280" y="6446520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64707C"/>
                </a:solidFill>
                <a:latin typeface="Meiryo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1776</Words>
  <Application>Microsoft Office PowerPoint</Application>
  <PresentationFormat>Widescreen</PresentationFormat>
  <Paragraphs>427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Meiryo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株式投資判断支援 Webアプリ 実装設計書 v1</dc:title>
  <dc:subject>Claude Code実装用のMVP設計まとめ</dc:subject>
  <dc:creator>OpenAI</dc:creator>
  <cp:keywords/>
  <dc:description>generated using python-pptx</dc:description>
  <cp:lastModifiedBy>Koya Fujisawa</cp:lastModifiedBy>
  <cp:revision>1</cp:revision>
  <dcterms:created xsi:type="dcterms:W3CDTF">2013-01-27T09:14:16Z</dcterms:created>
  <dcterms:modified xsi:type="dcterms:W3CDTF">2026-09-09T09:40:06Z</dcterms:modified>
  <cp:category/>
</cp:coreProperties>
</file>