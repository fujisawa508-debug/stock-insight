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072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8890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65562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4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Stock Investment Support App Requirements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66960" y="65562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49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2026-08-28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  <p:txBody>
          <a:bodyPr wrap="square" lIns="54864" tIns="18288" rIns="54864" bIns="18288" anchor="ctr"/>
          <a:lstStyle/>
          <a:p>
            <a:pPr algn="l"/>
            <a:endParaRPr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6692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株式投資判断支援 Webアプリ</a:t>
            </a:r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4754880" cy="29260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l">
              <a:buNone/>
            </a:pPr>
            <a:r>
              <a:rPr lang="en-US" sz="1600" b="0" dirty="0" err="1">
                <a:solidFill>
                  <a:srgbClr val="D6E0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要件定義｜Draft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10652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9966960" cy="38404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1A375D"/>
                </a:solidFill>
                <a:latin typeface="Meiryo"/>
                <a:ea typeface="Meiryo"/>
                <a:cs typeface="Meiryo"/>
              </a:rPr>
              <a:t>日本株 × テーマ分析 × 振り返り</a:t>
            </a:r>
          </a:p>
        </p:txBody>
      </p:sp>
      <p:sp>
        <p:nvSpPr>
          <p:cNvPr id="7" name="Text 5"/>
          <p:cNvSpPr/>
          <p:nvPr/>
        </p:nvSpPr>
        <p:spPr>
          <a:xfrm>
            <a:off x="1280160" y="3337560"/>
            <a:ext cx="9509760" cy="65836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ctr"/>
            <a:r>
              <a:rPr sz="1600" b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「株を当てるAI」ではなく、分析・記録・振り返りを通じて</a:t>
            </a:r>
          </a:p>
          <a:p>
            <a:pPr algn="ctr"/>
            <a:r>
              <a:rPr sz="1600" b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投資判断の材料を整理するWebアプリ</a:t>
            </a:r>
          </a:p>
        </p:txBody>
      </p:sp>
      <p:sp>
        <p:nvSpPr>
          <p:cNvPr id="8" name="Shape 6"/>
          <p:cNvSpPr/>
          <p:nvPr/>
        </p:nvSpPr>
        <p:spPr>
          <a:xfrm>
            <a:off x="1828800" y="4892040"/>
            <a:ext cx="2377440" cy="310896"/>
          </a:xfrm>
          <a:prstGeom prst="roundRect">
            <a:avLst>
              <a:gd name="adj" fmla="val 35294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901952" y="4928616"/>
            <a:ext cx="2231136" cy="16459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MVP：分析・保存・比較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489204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EAF6F4"/>
          </a:solidFill>
          <a:ln w="12700">
            <a:solidFill>
              <a:srgbClr val="EAF6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73752" y="4928616"/>
            <a:ext cx="1819656" cy="16459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将来：判断支援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0" y="4892040"/>
            <a:ext cx="2423160" cy="310896"/>
          </a:xfrm>
          <a:prstGeom prst="roundRect">
            <a:avLst>
              <a:gd name="adj" fmla="val 35294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88352" y="4928616"/>
            <a:ext cx="2276856" cy="16459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最終：承認後購入連携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プロダクトコンセプト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1500" b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判断サイクルは「分析 → 記録 → 追跡 → 振り返り → 次の判断」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920240" cy="1170432"/>
          </a:xfrm>
          <a:prstGeom prst="roundRect">
            <a:avLst>
              <a:gd name="adj" fmla="val 9375"/>
            </a:avLst>
          </a:prstGeom>
          <a:solidFill>
            <a:srgbClr val="EAF3F8"/>
          </a:solidFill>
          <a:ln w="1016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645920" cy="219456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ANALYZE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2634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5〜10銘柄を分析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2542032"/>
            <a:ext cx="292608" cy="0"/>
          </a:xfrm>
          <a:prstGeom prst="line">
            <a:avLst/>
          </a:prstGeom>
          <a:noFill/>
          <a:ln w="1905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971800" y="1965960"/>
            <a:ext cx="1920240" cy="1170432"/>
          </a:xfrm>
          <a:prstGeom prst="roundRect">
            <a:avLst>
              <a:gd name="adj" fmla="val 9375"/>
            </a:avLst>
          </a:prstGeom>
          <a:solidFill>
            <a:srgbClr val="EAF6F4"/>
          </a:solidFill>
          <a:ln w="1016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108960" y="2148840"/>
            <a:ext cx="1645920" cy="219456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2634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当時の判断を保存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2542032"/>
            <a:ext cx="292608" cy="0"/>
          </a:xfrm>
          <a:prstGeom prst="line">
            <a:avLst/>
          </a:prstGeom>
          <a:noFill/>
          <a:ln w="1905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257800" y="1965960"/>
            <a:ext cx="1920240" cy="1170432"/>
          </a:xfrm>
          <a:prstGeom prst="roundRect">
            <a:avLst>
              <a:gd name="adj" fmla="val 9375"/>
            </a:avLst>
          </a:prstGeom>
          <a:solidFill>
            <a:srgbClr val="F0F2F5"/>
          </a:solidFill>
          <a:ln w="10160">
            <a:solidFill>
              <a:srgbClr val="1832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94960" y="2148840"/>
            <a:ext cx="1645920" cy="219456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2634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時間経過を追跡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78040" y="2542032"/>
            <a:ext cx="292608" cy="0"/>
          </a:xfrm>
          <a:prstGeom prst="line">
            <a:avLst/>
          </a:prstGeom>
          <a:noFill/>
          <a:ln w="1905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43800" y="1965960"/>
            <a:ext cx="1920240" cy="1170432"/>
          </a:xfrm>
          <a:prstGeom prst="roundRect">
            <a:avLst>
              <a:gd name="adj" fmla="val 9375"/>
            </a:avLst>
          </a:prstGeom>
          <a:solidFill>
            <a:srgbClr val="FFF4E5"/>
          </a:solidFill>
          <a:ln w="10160">
            <a:solidFill>
              <a:srgbClr val="C884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680960" y="2148840"/>
            <a:ext cx="1645920" cy="219456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26680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2634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結果と理由を振り返る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64040" y="2542032"/>
            <a:ext cx="292608" cy="0"/>
          </a:xfrm>
          <a:prstGeom prst="line">
            <a:avLst/>
          </a:prstGeom>
          <a:noFill/>
          <a:ln w="1905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829800" y="1965960"/>
            <a:ext cx="1920240" cy="1170432"/>
          </a:xfrm>
          <a:prstGeom prst="roundRect">
            <a:avLst>
              <a:gd name="adj" fmla="val 9375"/>
            </a:avLst>
          </a:prstGeom>
          <a:solidFill>
            <a:srgbClr val="EAF4EE"/>
          </a:solidFill>
          <a:ln w="10160">
            <a:solidFill>
              <a:srgbClr val="3B7D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966960" y="2148840"/>
            <a:ext cx="1645920" cy="219456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1A375D"/>
                </a:solidFill>
                <a:latin typeface="Meiryo"/>
                <a:ea typeface="Meiryo"/>
                <a:cs typeface="Meiryo"/>
              </a:rPr>
              <a:t>NEXT</a:t>
            </a:r>
          </a:p>
        </p:txBody>
      </p:sp>
      <p:sp>
        <p:nvSpPr>
          <p:cNvPr id="22" name="Text 20"/>
          <p:cNvSpPr/>
          <p:nvPr/>
        </p:nvSpPr>
        <p:spPr>
          <a:xfrm>
            <a:off x="10012680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ctr"/>
            <a:r>
              <a:rPr sz="1350" b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次の分析へ</a:t>
            </a:r>
          </a:p>
        </p:txBody>
      </p:sp>
      <p:sp>
        <p:nvSpPr>
          <p:cNvPr id="24" name="Text 22"/>
          <p:cNvSpPr/>
          <p:nvPr/>
        </p:nvSpPr>
        <p:spPr>
          <a:xfrm>
            <a:off x="2377440" y="3182112"/>
            <a:ext cx="7406640" cy="320040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ctr"/>
            <a:r>
              <a:rPr sz="1400" b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分析を重ねるほど、判断材料と結果の履歴が蓄積される</a:t>
            </a:r>
          </a:p>
        </p:txBody>
      </p:sp>
      <p:sp>
        <p:nvSpPr>
          <p:cNvPr id="25" name="Shape 23"/>
          <p:cNvSpPr/>
          <p:nvPr/>
        </p:nvSpPr>
        <p:spPr>
          <a:xfrm>
            <a:off x="777240" y="3977640"/>
            <a:ext cx="10561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5156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現在のMVP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23160" y="4242816"/>
            <a:ext cx="8138160" cy="40233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テーマから分析候補を探す → 5〜10銘柄を比較 → 当時のデータを保存 → 後から現在と比較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864608"/>
            <a:ext cx="1828800" cy="27432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23160" y="4800600"/>
            <a:ext cx="8138160" cy="402336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1400" b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事後分析 → 判断傾向の分析 → 投資判断支援 → ユーザー承認後の購入連携</a:t>
            </a: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1〜5｜なぜ作るか・どう使うか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500" b="1">
                <a:solidFill>
                  <a:srgbClr val="1A375D"/>
                </a:solidFill>
                <a:latin typeface="Meiryo"/>
                <a:ea typeface="Meiryo"/>
                <a:cs typeface="Meiryo"/>
              </a:rPr>
              <a:t>初期構想の「購入支援」から、現在は「判断力を育てる」へ再整理</a:t>
            </a:r>
          </a:p>
        </p:txBody>
      </p:sp>
      <p:sp>
        <p:nvSpPr>
          <p:cNvPr id="4" name="Shape 2"/>
          <p:cNvSpPr/>
          <p:nvPr/>
        </p:nvSpPr>
        <p:spPr>
          <a:xfrm>
            <a:off x="713232" y="1508760"/>
            <a:ext cx="10744200" cy="786384"/>
          </a:xfrm>
          <a:prstGeom prst="roundRect">
            <a:avLst>
              <a:gd name="adj" fmla="val 13953"/>
            </a:avLst>
          </a:prstGeom>
          <a:solidFill>
            <a:srgbClr val="F6F8FA"/>
          </a:solidFill>
          <a:ln w="9525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1664208"/>
            <a:ext cx="438912" cy="438912"/>
          </a:xfrm>
          <a:prstGeom prst="ellipse">
            <a:avLst/>
          </a:prstGeom>
          <a:solidFill>
            <a:srgbClr val="1A375D"/>
          </a:solidFill>
          <a:ln w="12700">
            <a:solidFill>
              <a:srgbClr val="1A37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32688" y="1850413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7922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背景・目的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9280" y="166775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初心者が実際の日本株を分析・記録・振り返りし、投資判断力を高める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2404872"/>
            <a:ext cx="10744200" cy="786384"/>
          </a:xfrm>
          <a:prstGeom prst="roundRect">
            <a:avLst>
              <a:gd name="adj" fmla="val 13953"/>
            </a:avLst>
          </a:prstGeom>
          <a:solidFill>
            <a:srgbClr val="F6F8FA"/>
          </a:solidFill>
          <a:ln w="9525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32688" y="2560320"/>
            <a:ext cx="438912" cy="438912"/>
          </a:xfrm>
          <a:prstGeom prst="ellipse">
            <a:avLst/>
          </a:prstGeom>
          <a:solidFill>
            <a:srgbClr val="1A375D"/>
          </a:solidFill>
          <a:ln w="12700">
            <a:solidFill>
              <a:srgbClr val="1A37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2688" y="274320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69095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対象ユーザー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5511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投資未経験〜初心者。財務知識は少ないが、自分で判断できるようになりたい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3300984"/>
            <a:ext cx="10744200" cy="786384"/>
          </a:xfrm>
          <a:prstGeom prst="roundRect">
            <a:avLst>
              <a:gd name="adj" fmla="val 13953"/>
            </a:avLst>
          </a:prstGeom>
          <a:solidFill>
            <a:srgbClr val="F6F8FA"/>
          </a:solidFill>
          <a:ln w="9525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32688" y="3456432"/>
            <a:ext cx="438912" cy="438912"/>
          </a:xfrm>
          <a:prstGeom prst="ellipse">
            <a:avLst/>
          </a:prstGeom>
          <a:solidFill>
            <a:srgbClr val="1A375D"/>
          </a:solidFill>
          <a:ln w="12700">
            <a:solidFill>
              <a:srgbClr val="1A37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32688" y="3622687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35684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現状フロー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4472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候補探し → 情報収集 → 分析 → 比較 → 判断 → 結果確認が分断されている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3232" y="4197096"/>
            <a:ext cx="10744200" cy="786384"/>
          </a:xfrm>
          <a:prstGeom prst="roundRect">
            <a:avLst>
              <a:gd name="adj" fmla="val 13953"/>
            </a:avLst>
          </a:prstGeom>
          <a:solidFill>
            <a:srgbClr val="F6F8FA"/>
          </a:solidFill>
          <a:ln w="9525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32688" y="4352544"/>
            <a:ext cx="438912" cy="438912"/>
          </a:xfrm>
          <a:prstGeom prst="ellipse">
            <a:avLst/>
          </a:prstGeom>
          <a:solidFill>
            <a:srgbClr val="1A375D"/>
          </a:solidFill>
          <a:ln w="12700">
            <a:solidFill>
              <a:srgbClr val="1A37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32688" y="451713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4464513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解決したい課題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43573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判断基準・情報の信頼性・比較方法に加え、「過去判断の振り返り方」が分からない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3232" y="5093208"/>
            <a:ext cx="10744200" cy="786384"/>
          </a:xfrm>
          <a:prstGeom prst="roundRect">
            <a:avLst>
              <a:gd name="adj" fmla="val 13953"/>
            </a:avLst>
          </a:prstGeom>
          <a:solidFill>
            <a:srgbClr val="F6F8FA"/>
          </a:solidFill>
          <a:ln w="12700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32688" y="5248656"/>
            <a:ext cx="438912" cy="43891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32688" y="538415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5388621"/>
            <a:ext cx="22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目指す利用フロー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54480" y="5230368"/>
            <a:ext cx="690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 → 5〜10銘柄 → 分析 → 保存 → 追跡 → 振り返り → 次の分析へ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6〜7｜MVPと機能要件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最小構成は「テーマ追跡・分析・保存・比較」に集中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A375D"/>
          </a:solidFill>
          <a:ln w="12700">
            <a:solidFill>
              <a:srgbClr val="1A375D"/>
            </a:solidFill>
            <a:prstDash val="solid"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6</a:t>
            </a:r>
          </a:p>
        </p:txBody>
      </p:sp>
      <p:sp>
        <p:nvSpPr>
          <p:cNvPr id="6" name="Text 4"/>
          <p:cNvSpPr/>
          <p:nvPr/>
        </p:nvSpPr>
        <p:spPr>
          <a:xfrm>
            <a:off x="1874520" y="1316736"/>
            <a:ext cx="37490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012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MVPに入れる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87552" y="2560320"/>
            <a:ext cx="164592" cy="164592"/>
          </a:xfrm>
          <a:prstGeom prst="ellipse">
            <a:avLst/>
          </a:prstGeom>
          <a:solidFill>
            <a:srgbClr val="2A7F78"/>
          </a:solidFill>
          <a:ln w="1270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日本株から開始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987552" y="2999232"/>
            <a:ext cx="164592" cy="164592"/>
          </a:xfrm>
          <a:prstGeom prst="ellipse">
            <a:avLst/>
          </a:prstGeom>
          <a:solidFill>
            <a:srgbClr val="2A7F78"/>
          </a:solidFill>
          <a:ln w="1270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80160" y="2953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自分の注目テーマを登録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87552" y="3438144"/>
            <a:ext cx="164592" cy="164592"/>
          </a:xfrm>
          <a:prstGeom prst="ellipse">
            <a:avLst/>
          </a:prstGeom>
          <a:solidFill>
            <a:srgbClr val="2A7F78"/>
          </a:solidFill>
          <a:ln w="1270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80160" y="33924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テーマごとに5〜10銘柄を分析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987552" y="3877056"/>
            <a:ext cx="164592" cy="164592"/>
          </a:xfrm>
          <a:prstGeom prst="ellipse">
            <a:avLst/>
          </a:prstGeom>
          <a:solidFill>
            <a:srgbClr val="2A7F78"/>
          </a:solidFill>
          <a:ln w="1270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80160" y="38313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注目理由をAI要約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87552" y="4315968"/>
            <a:ext cx="164592" cy="164592"/>
          </a:xfrm>
          <a:prstGeom prst="ellipse">
            <a:avLst/>
          </a:prstGeom>
          <a:solidFill>
            <a:srgbClr val="2A7F78"/>
          </a:solidFill>
          <a:ln w="1270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280160" y="4270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基本指標を初心者向けに解説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87552" y="4754880"/>
            <a:ext cx="164592" cy="164592"/>
          </a:xfrm>
          <a:prstGeom prst="ellipse">
            <a:avLst/>
          </a:prstGeom>
          <a:solidFill>
            <a:srgbClr val="2A7F78"/>
          </a:solidFill>
          <a:ln w="1270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280160" y="4709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分析セットを保存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87552" y="5193792"/>
            <a:ext cx="164592" cy="164592"/>
          </a:xfrm>
          <a:prstGeom prst="ellipse">
            <a:avLst/>
          </a:prstGeom>
          <a:solidFill>
            <a:srgbClr val="2A7F78"/>
          </a:solidFill>
          <a:ln w="1270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280160" y="51480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分析時点と現在を比較</a:t>
            </a:r>
            <a:endParaRPr lang="en-US" sz="112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4800600" y="1783080"/>
            <a:ext cx="6537960" cy="4069080"/>
          </a:xfrm>
          <a:prstGeom prst="roundRect">
            <a:avLst/>
          </a:prstGeom>
          <a:solidFill>
            <a:srgbClr val="F9FAFB"/>
          </a:solidFill>
          <a:ln w="11430">
            <a:solidFill>
              <a:srgbClr val="D2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4892040" y="1307592"/>
            <a:ext cx="1097280" cy="310896"/>
          </a:xfrm>
          <a:prstGeom prst="roundRect">
            <a:avLst/>
          </a:prstGeom>
          <a:solidFill>
            <a:srgbClr val="1A375D"/>
          </a:solidFill>
          <a:ln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1342675"/>
            <a:ext cx="219456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700" b="1" dirty="0" err="1">
                <a:solidFill>
                  <a:srgbClr val="1A375D"/>
                </a:solidFill>
                <a:latin typeface="Meiryo"/>
                <a:ea typeface="Meiryo"/>
                <a:cs typeface="Meiryo"/>
              </a:rPr>
              <a:t>機能要件</a:t>
            </a:r>
            <a:endParaRPr sz="1700" b="1" dirty="0">
              <a:solidFill>
                <a:srgbClr val="1A375D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99342" y="2103120"/>
            <a:ext cx="5943600" cy="3840480"/>
          </a:xfrm>
          <a:prstGeom prst="rect">
            <a:avLst/>
          </a:prstGeom>
          <a:noFill/>
        </p:spPr>
        <p:txBody>
          <a:bodyPr wrap="square" lIns="73152" tIns="36576" rIns="54864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50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テーマを登録・一覧表示</a:t>
            </a:r>
            <a:endParaRPr sz="150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テーマごとに5〜10銘柄を表示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50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業績・指標・リスクを同じ軸で比較</a:t>
            </a:r>
            <a:endParaRPr sz="150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50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注目理由、情報源、公開日を表示</a:t>
            </a:r>
            <a:endParaRPr sz="150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50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複数銘柄を分析セットとして保存</a:t>
            </a:r>
            <a:endParaRPr sz="150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50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分析時点の株価・指標・AI分析を保存</a:t>
            </a:r>
            <a:endParaRPr sz="150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50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分析時点と現在を比較</a:t>
            </a:r>
            <a:endParaRPr sz="150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仮画面イメージ 1｜ホーム / テーマウォッチ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ユーザーが登録したテーマを起点に、変化と分析候補へ入る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7076" y="1325880"/>
            <a:ext cx="10941212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C9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716768" cy="50292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1499616"/>
            <a:ext cx="100584" cy="100584"/>
          </a:xfrm>
          <a:prstGeom prst="ellipse">
            <a:avLst/>
          </a:prstGeom>
          <a:solidFill>
            <a:srgbClr val="D06161"/>
          </a:solidFill>
          <a:ln w="12700">
            <a:solidFill>
              <a:srgbClr val="D061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61288" y="1499616"/>
            <a:ext cx="100584" cy="100584"/>
          </a:xfrm>
          <a:prstGeom prst="ellipse">
            <a:avLst/>
          </a:prstGeom>
          <a:solidFill>
            <a:srgbClr val="D8A849"/>
          </a:solidFill>
          <a:ln w="12700">
            <a:solidFill>
              <a:srgbClr val="D8A8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362456" y="1499616"/>
            <a:ext cx="100584" cy="100584"/>
          </a:xfrm>
          <a:prstGeom prst="ellipse">
            <a:avLst/>
          </a:prstGeom>
          <a:solidFill>
            <a:srgbClr val="6BAA7C"/>
          </a:solidFill>
          <a:ln w="12700">
            <a:solidFill>
              <a:srgbClr val="6BAA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1400" b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Stock Insight</a:t>
            </a:r>
          </a:p>
        </p:txBody>
      </p:sp>
      <p:sp>
        <p:nvSpPr>
          <p:cNvPr id="10" name="Text 8"/>
          <p:cNvSpPr/>
          <p:nvPr/>
        </p:nvSpPr>
        <p:spPr>
          <a:xfrm>
            <a:off x="960120" y="2441448"/>
            <a:ext cx="2011680" cy="22860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あなたのテーマ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788920"/>
            <a:ext cx="2971800" cy="1188720"/>
          </a:xfrm>
          <a:prstGeom prst="roundRect">
            <a:avLst>
              <a:gd name="adj" fmla="val 9231"/>
            </a:avLst>
          </a:prstGeom>
          <a:solidFill>
            <a:srgbClr val="EAF3F8"/>
          </a:solidFill>
          <a:ln w="1016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24712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24712" y="3355848"/>
            <a:ext cx="1097280" cy="21945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8銘柄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13432" y="3355848"/>
            <a:ext cx="1325880" cy="21945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重要更新 3件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862072" y="291693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80000"/>
            </a:srgbClr>
          </a:solidFill>
          <a:ln w="1016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898648" y="2995908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分析を見る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206240" y="2788920"/>
            <a:ext cx="2971800" cy="1188720"/>
          </a:xfrm>
          <a:prstGeom prst="roundRect">
            <a:avLst>
              <a:gd name="adj" fmla="val 9231"/>
            </a:avLst>
          </a:prstGeom>
          <a:solidFill>
            <a:srgbClr val="EAF6F4"/>
          </a:solidFill>
          <a:ln w="1016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70832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宇宙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70832" y="3355848"/>
            <a:ext cx="1097280" cy="21945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6銘柄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59552" y="3355848"/>
            <a:ext cx="1325880" cy="21945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重要更新 1件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108192" y="291693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80000"/>
            </a:srgbClr>
          </a:solidFill>
          <a:ln w="1016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119830" y="299507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分析を見る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452360" y="2788920"/>
            <a:ext cx="2971800" cy="1188720"/>
          </a:xfrm>
          <a:prstGeom prst="roundRect">
            <a:avLst>
              <a:gd name="adj" fmla="val 9231"/>
            </a:avLst>
          </a:prstGeom>
          <a:solidFill>
            <a:srgbClr val="FFF4E5"/>
          </a:solidFill>
          <a:ln w="10160">
            <a:solidFill>
              <a:srgbClr val="C884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616952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616952" y="3355848"/>
            <a:ext cx="1097280" cy="21945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10銘柄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05672" y="3355848"/>
            <a:ext cx="1325880" cy="21945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決算更新 2件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354312" y="291693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FFFFF">
              <a:alpha val="80000"/>
            </a:srgbClr>
          </a:solidFill>
          <a:ln w="10160">
            <a:solidFill>
              <a:srgbClr val="C884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390888" y="3004221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分析を見る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60120" y="4315968"/>
            <a:ext cx="1645920" cy="22860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最近の変化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552" y="4626864"/>
            <a:ext cx="685800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4626864"/>
            <a:ext cx="822960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A社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97480" y="4626864"/>
            <a:ext cx="4846320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業績予想を上方修正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37913" y="4626864"/>
            <a:ext cx="2439785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2026/08/27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0120" y="4901184"/>
            <a:ext cx="9601200" cy="0"/>
          </a:xfrm>
          <a:prstGeom prst="line">
            <a:avLst/>
          </a:prstGeom>
          <a:noFill/>
          <a:ln w="7620">
            <a:solidFill>
              <a:srgbClr val="E3E6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87551" y="5065776"/>
            <a:ext cx="899437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83080" y="5065776"/>
            <a:ext cx="822960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B社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97480" y="5065776"/>
            <a:ext cx="4846320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営業利益率が改善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87542" y="5065776"/>
            <a:ext cx="2173778" cy="27432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2026/08/27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60120" y="5340096"/>
            <a:ext cx="9601200" cy="0"/>
          </a:xfrm>
          <a:prstGeom prst="line">
            <a:avLst/>
          </a:prstGeom>
          <a:noFill/>
          <a:ln w="7620">
            <a:solidFill>
              <a:srgbClr val="E3E6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87552" y="5504688"/>
            <a:ext cx="685800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宇宙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783080" y="5504688"/>
            <a:ext cx="822960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C社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97480" y="5504688"/>
            <a:ext cx="4846320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大型受注を発表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387542" y="5562046"/>
            <a:ext cx="2173778" cy="1147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2026/08/26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60120" y="5779008"/>
            <a:ext cx="9601200" cy="0"/>
          </a:xfrm>
          <a:prstGeom prst="line">
            <a:avLst/>
          </a:prstGeom>
          <a:noFill/>
          <a:ln w="7620">
            <a:solidFill>
              <a:srgbClr val="E3E6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仮画面イメージ 2｜テーマ別の分析候補 / 銘柄詳細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「おすすめ」ではなく、同じ評価軸で比較するための分析候補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4572000" cy="50749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C9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AI関連｜分析候補 8銘柄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" y="2121408"/>
            <a:ext cx="4069080" cy="576072"/>
          </a:xfrm>
          <a:prstGeom prst="roundRect">
            <a:avLst>
              <a:gd name="adj" fmla="val 19048"/>
            </a:avLst>
          </a:prstGeom>
          <a:solidFill>
            <a:srgbClr val="EAF3F8"/>
          </a:solidFill>
          <a:ln w="1016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24128" y="22219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A社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2219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成長性 ◎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2651760" y="22219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割高感 △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3520440" y="22219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AI需要増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896112" y="2834640"/>
            <a:ext cx="4069080" cy="576072"/>
          </a:xfrm>
          <a:prstGeom prst="roundRect">
            <a:avLst>
              <a:gd name="adj" fmla="val 19048"/>
            </a:avLst>
          </a:prstGeom>
          <a:solidFill>
            <a:srgbClr val="F9FAFB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24128" y="29352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B社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9352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成長性 ○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651760" y="29352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割高感 ○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520440" y="29352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利益率改善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96112" y="3547872"/>
            <a:ext cx="4069080" cy="576072"/>
          </a:xfrm>
          <a:prstGeom prst="roundRect">
            <a:avLst>
              <a:gd name="adj" fmla="val 19048"/>
            </a:avLst>
          </a:prstGeom>
          <a:solidFill>
            <a:srgbClr val="F9FAFB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24128" y="364845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C社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36484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成長性 ○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2651760" y="36484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割高感 ◎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3520440" y="3648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大型案件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96112" y="4261104"/>
            <a:ext cx="4069080" cy="576072"/>
          </a:xfrm>
          <a:prstGeom prst="roundRect">
            <a:avLst>
              <a:gd name="adj" fmla="val 19048"/>
            </a:avLst>
          </a:prstGeom>
          <a:solidFill>
            <a:srgbClr val="F9FAFB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24128" y="43616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D社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4361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成長性 △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2651760" y="4361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割高感 ○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520440" y="43616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新規事業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96112" y="4974336"/>
            <a:ext cx="4069080" cy="576072"/>
          </a:xfrm>
          <a:prstGeom prst="roundRect">
            <a:avLst>
              <a:gd name="adj" fmla="val 19048"/>
            </a:avLst>
          </a:prstGeom>
          <a:solidFill>
            <a:srgbClr val="F9FAFB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24128" y="50749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E社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83080" y="5074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成長性 ◎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2651760" y="50749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割高感 ×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3520440" y="5074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決算期待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914400" y="5897880"/>
            <a:ext cx="3108960" cy="22860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35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1テーマあたり5〜10銘柄程度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1325880"/>
            <a:ext cx="608076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C9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7150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A社｜銘柄詳細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52930" y="2057400"/>
            <a:ext cx="961053" cy="310896"/>
          </a:xfrm>
          <a:prstGeom prst="roundRect">
            <a:avLst>
              <a:gd name="adj" fmla="val 35294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788152" y="2139696"/>
            <a:ext cx="130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注目理由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9596" y="2020824"/>
            <a:ext cx="437168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AI向け需要の拡大に加え、直近決算で営業利益率が改善。</a:t>
            </a:r>
            <a:endParaRPr lang="en-US" sz="1060" dirty="0"/>
          </a:p>
          <a:p>
            <a:pPr marL="0" indent="0">
              <a:buNone/>
            </a:pPr>
            <a:r>
              <a:rPr lang="en-US" sz="13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一方でPERは過去平均より高め。</a:t>
            </a:r>
            <a:endParaRPr lang="en-US" sz="1060" dirty="0"/>
          </a:p>
        </p:txBody>
      </p:sp>
      <p:sp>
        <p:nvSpPr>
          <p:cNvPr id="37" name="Text 35"/>
          <p:cNvSpPr/>
          <p:nvPr/>
        </p:nvSpPr>
        <p:spPr>
          <a:xfrm>
            <a:off x="5733288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成長性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812280" y="29260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良好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715000" y="3200400"/>
            <a:ext cx="5212080" cy="0"/>
          </a:xfrm>
          <a:prstGeom prst="line">
            <a:avLst/>
          </a:prstGeom>
          <a:noFill/>
          <a:ln w="7620">
            <a:solidFill>
              <a:srgbClr val="E5E8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733288" y="34198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収益性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6812280" y="34198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安定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715000" y="3694176"/>
            <a:ext cx="5212080" cy="0"/>
          </a:xfrm>
          <a:prstGeom prst="line">
            <a:avLst/>
          </a:prstGeom>
          <a:noFill/>
          <a:ln w="7620">
            <a:solidFill>
              <a:srgbClr val="E5E8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733288" y="3913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812280" y="39136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安定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5715000" y="4187952"/>
            <a:ext cx="5212080" cy="0"/>
          </a:xfrm>
          <a:prstGeom prst="line">
            <a:avLst/>
          </a:prstGeom>
          <a:noFill/>
          <a:ln w="7620">
            <a:solidFill>
              <a:srgbClr val="E5E8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5733288" y="4407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割高感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6812280" y="44074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やや高い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715000" y="4681728"/>
            <a:ext cx="5212080" cy="0"/>
          </a:xfrm>
          <a:prstGeom prst="line">
            <a:avLst/>
          </a:prstGeom>
          <a:noFill/>
          <a:ln w="7620">
            <a:solidFill>
              <a:srgbClr val="E5E8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733288" y="49011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6812280" y="49011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PER高め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5715000" y="5175504"/>
            <a:ext cx="5212080" cy="0"/>
          </a:xfrm>
          <a:prstGeom prst="line">
            <a:avLst/>
          </a:prstGeom>
          <a:noFill/>
          <a:ln w="7620">
            <a:solidFill>
              <a:srgbClr val="E5E8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321040" y="2926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主要指標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8321040" y="32552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</a:t>
            </a:r>
            <a:endParaRPr lang="en-US" sz="930" dirty="0"/>
          </a:p>
        </p:txBody>
      </p:sp>
      <p:sp>
        <p:nvSpPr>
          <p:cNvPr id="54" name="Text 52"/>
          <p:cNvSpPr/>
          <p:nvPr/>
        </p:nvSpPr>
        <p:spPr>
          <a:xfrm>
            <a:off x="9235440" y="32552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22.4x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8321040" y="3730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PBR</a:t>
            </a:r>
            <a:endParaRPr lang="en-US" sz="930" dirty="0"/>
          </a:p>
        </p:txBody>
      </p:sp>
      <p:sp>
        <p:nvSpPr>
          <p:cNvPr id="56" name="Text 54"/>
          <p:cNvSpPr/>
          <p:nvPr/>
        </p:nvSpPr>
        <p:spPr>
          <a:xfrm>
            <a:off x="9235440" y="3730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2.1x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8321040" y="4206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ROE</a:t>
            </a:r>
            <a:endParaRPr lang="en-US" sz="930" dirty="0"/>
          </a:p>
        </p:txBody>
      </p:sp>
      <p:sp>
        <p:nvSpPr>
          <p:cNvPr id="58" name="Text 56"/>
          <p:cNvSpPr/>
          <p:nvPr/>
        </p:nvSpPr>
        <p:spPr>
          <a:xfrm>
            <a:off x="9235440" y="42062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13.8%</a:t>
            </a:r>
            <a:endParaRPr lang="en-US" sz="1020" dirty="0"/>
          </a:p>
        </p:txBody>
      </p:sp>
      <p:sp>
        <p:nvSpPr>
          <p:cNvPr id="59" name="Text 57"/>
          <p:cNvSpPr/>
          <p:nvPr/>
        </p:nvSpPr>
        <p:spPr>
          <a:xfrm>
            <a:off x="8321040" y="4681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営業利益</a:t>
            </a:r>
            <a:endParaRPr lang="en-US" sz="930" dirty="0"/>
          </a:p>
        </p:txBody>
      </p:sp>
      <p:sp>
        <p:nvSpPr>
          <p:cNvPr id="60" name="Text 58"/>
          <p:cNvSpPr/>
          <p:nvPr/>
        </p:nvSpPr>
        <p:spPr>
          <a:xfrm>
            <a:off x="9235440" y="46817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+18% YoY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5715000" y="56692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A375D"/>
          </a:solidFill>
          <a:ln w="12700">
            <a:solidFill>
              <a:srgbClr val="1A37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5852160" y="576072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分析セットに追加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458200" y="57515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元情報・取得日時を確認</a:t>
            </a:r>
            <a:endParaRPr lang="en-US" sz="92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仮画面イメージ 3｜分析セット / 振り返り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「上がった＝正解」ではなく、当時の判断材料が妥当だったかを見る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74420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C9D0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87552" y="1627632"/>
            <a:ext cx="3840480" cy="27432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分析セット｜AI関連株 2026年8月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0" y="1673352"/>
            <a:ext cx="3520440" cy="22860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分析日 2026/08/27　｜　対象 8銘柄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1051560" cy="384048"/>
          </a:xfrm>
          <a:prstGeom prst="rect">
            <a:avLst/>
          </a:prstGeom>
          <a:solidFill>
            <a:srgbClr val="EEF2F5"/>
          </a:solidFill>
          <a:ln w="7620">
            <a:solidFill>
              <a:srgbClr val="D8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5840" y="2249424"/>
            <a:ext cx="960120" cy="1280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011680" y="2148840"/>
            <a:ext cx="1325880" cy="384048"/>
          </a:xfrm>
          <a:prstGeom prst="rect">
            <a:avLst/>
          </a:prstGeom>
          <a:solidFill>
            <a:srgbClr val="EEF2F5"/>
          </a:solidFill>
          <a:ln w="7620">
            <a:solidFill>
              <a:srgbClr val="D8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057400" y="2249424"/>
            <a:ext cx="1234440" cy="1280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分析時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1325880" cy="384048"/>
          </a:xfrm>
          <a:prstGeom prst="rect">
            <a:avLst/>
          </a:prstGeom>
          <a:solidFill>
            <a:srgbClr val="EEF2F5"/>
          </a:solidFill>
          <a:ln w="7620">
            <a:solidFill>
              <a:srgbClr val="D8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83280" y="2249424"/>
            <a:ext cx="1234440" cy="1280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3か月後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1005840" cy="384048"/>
          </a:xfrm>
          <a:prstGeom prst="rect">
            <a:avLst/>
          </a:prstGeom>
          <a:solidFill>
            <a:srgbClr val="EEF2F5"/>
          </a:solidFill>
          <a:ln w="7620">
            <a:solidFill>
              <a:srgbClr val="D8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09160" y="2249424"/>
            <a:ext cx="914400" cy="1280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変化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669280" y="2148840"/>
            <a:ext cx="1920240" cy="384048"/>
          </a:xfrm>
          <a:prstGeom prst="rect">
            <a:avLst/>
          </a:prstGeom>
          <a:solidFill>
            <a:srgbClr val="EEF2F5"/>
          </a:solidFill>
          <a:ln w="7620">
            <a:solidFill>
              <a:srgbClr val="D8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715000" y="2249424"/>
            <a:ext cx="1828800" cy="1280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当時の判断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589520" y="2148840"/>
            <a:ext cx="3383280" cy="384048"/>
          </a:xfrm>
          <a:prstGeom prst="rect">
            <a:avLst/>
          </a:prstGeom>
          <a:solidFill>
            <a:srgbClr val="EEF2F5"/>
          </a:solidFill>
          <a:ln w="7620">
            <a:solidFill>
              <a:srgbClr val="D8DD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635240" y="2249424"/>
            <a:ext cx="3291840" cy="1280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振り返りメモ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60120" y="2532888"/>
            <a:ext cx="1051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14984" y="2642616"/>
            <a:ext cx="94183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A社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0" y="2532888"/>
            <a:ext cx="1325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066544" y="2642616"/>
            <a:ext cx="12161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2,000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2532888"/>
            <a:ext cx="1325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392424" y="2642616"/>
            <a:ext cx="12161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2,400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532888"/>
            <a:ext cx="1005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718304" y="2642616"/>
            <a:ext cx="89611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0" y="2532888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724144" y="2642616"/>
            <a:ext cx="181051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 ◎ / 割高 △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89520" y="2532888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644384" y="2642616"/>
            <a:ext cx="32735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AI需要→上方修正。注目材料は有効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960120" y="3191256"/>
            <a:ext cx="10515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14984" y="3300984"/>
            <a:ext cx="94183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B社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0" y="3191256"/>
            <a:ext cx="13258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066544" y="3300984"/>
            <a:ext cx="12161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1,500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37560" y="3191256"/>
            <a:ext cx="13258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392424" y="3300984"/>
            <a:ext cx="12161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1,350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191256"/>
            <a:ext cx="100584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18304" y="3300984"/>
            <a:ext cx="89611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-10%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0" y="3191256"/>
            <a:ext cx="192024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724144" y="3300984"/>
            <a:ext cx="181051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 ○ / 財務 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89520" y="3191256"/>
            <a:ext cx="33832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644384" y="3300984"/>
            <a:ext cx="32735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業績は堅調だが市場期待に届かず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960120" y="3849624"/>
            <a:ext cx="1051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014984" y="3959352"/>
            <a:ext cx="94183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C社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11680" y="3849624"/>
            <a:ext cx="1325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066544" y="3959352"/>
            <a:ext cx="12161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3,000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37560" y="3849624"/>
            <a:ext cx="1325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3392424" y="3959352"/>
            <a:ext cx="12161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4,200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3849624"/>
            <a:ext cx="1005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18304" y="3959352"/>
            <a:ext cx="89611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+40%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669280" y="3849624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5724144" y="3959352"/>
            <a:ext cx="181051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 高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89520" y="3849624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7644384" y="3959352"/>
            <a:ext cx="32735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高リスク判断は妥当。テーマ全体上昇</a:t>
            </a:r>
            <a:endParaRPr lang="en-US" sz="890" dirty="0"/>
          </a:p>
        </p:txBody>
      </p:sp>
      <p:sp>
        <p:nvSpPr>
          <p:cNvPr id="55" name="Shape 53"/>
          <p:cNvSpPr/>
          <p:nvPr/>
        </p:nvSpPr>
        <p:spPr>
          <a:xfrm>
            <a:off x="960120" y="4507992"/>
            <a:ext cx="10515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1014984" y="4617720"/>
            <a:ext cx="94183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D社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011680" y="4507992"/>
            <a:ext cx="13258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2066544" y="4617720"/>
            <a:ext cx="12161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1,200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337560" y="4507992"/>
            <a:ext cx="13258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3392424" y="4617720"/>
            <a:ext cx="121615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980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63440" y="4507992"/>
            <a:ext cx="100584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4718304" y="4617720"/>
            <a:ext cx="89611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-18%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669280" y="4507992"/>
            <a:ext cx="192024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5724144" y="4617720"/>
            <a:ext cx="1810512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割安 ○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589520" y="4507992"/>
            <a:ext cx="33832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1E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7644384" y="4617720"/>
            <a:ext cx="3575304" cy="34747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 err="1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割安だけでは不十分</a:t>
            </a: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 algn="ctr">
              <a:buNone/>
            </a:pPr>
            <a:r>
              <a:rPr lang="en-US" sz="1400" b="0" dirty="0" err="1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利益悪化を見落とし</a:t>
            </a:r>
            <a:endParaRPr lang="en-US" sz="89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8〜9｜データ要件 / 外部連携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要件では「何の情報が必要か」を定義。具体的なAPI・MCP採用は設計フェーズで選ぶ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397764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A375D"/>
          </a:solidFill>
          <a:ln w="12700">
            <a:solidFill>
              <a:srgbClr val="1A375D"/>
            </a:solidFill>
            <a:prstDash val="solid"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9</a:t>
            </a:r>
          </a:p>
        </p:txBody>
      </p:sp>
      <p:sp>
        <p:nvSpPr>
          <p:cNvPr id="26" name="Text 24"/>
          <p:cNvSpPr/>
          <p:nvPr/>
        </p:nvSpPr>
        <p:spPr>
          <a:xfrm>
            <a:off x="786384" y="3995928"/>
            <a:ext cx="905256" cy="1280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965960" y="4020374"/>
            <a:ext cx="37490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外部連携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" y="4572000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13232" y="4809744"/>
            <a:ext cx="1853738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株価・財務データ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2834640" y="4572000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907792" y="4873752"/>
            <a:ext cx="1682496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開示・ニュース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983479" y="4572000"/>
            <a:ext cx="1709929" cy="658368"/>
          </a:xfrm>
          <a:prstGeom prst="roundRect">
            <a:avLst>
              <a:gd name="adj" fmla="val 16667"/>
            </a:avLst>
          </a:prstGeom>
          <a:solidFill>
            <a:srgbClr val="EAF3F8"/>
          </a:solidFill>
          <a:ln w="1016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892040" y="4818888"/>
            <a:ext cx="1801368" cy="237744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Webバックエンド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895324" y="4572000"/>
            <a:ext cx="1508760" cy="658368"/>
          </a:xfrm>
          <a:prstGeom prst="roundRect">
            <a:avLst>
              <a:gd name="adj" fmla="val 16667"/>
            </a:avLst>
          </a:prstGeom>
          <a:solidFill>
            <a:srgbClr val="EAF6F4"/>
          </a:solidFill>
          <a:ln w="1016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908385" y="4846320"/>
            <a:ext cx="1435608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AI要約・解釈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8732520" y="4572000"/>
            <a:ext cx="1920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805672" y="4846320"/>
            <a:ext cx="1773936" cy="18288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分析履歴DB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2578608" y="4901184"/>
            <a:ext cx="164592" cy="0"/>
          </a:xfrm>
          <a:prstGeom prst="line">
            <a:avLst/>
          </a:prstGeom>
          <a:noFill/>
          <a:ln w="1651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4663440" y="4901184"/>
            <a:ext cx="228600" cy="0"/>
          </a:xfrm>
          <a:prstGeom prst="line">
            <a:avLst/>
          </a:prstGeom>
          <a:noFill/>
          <a:ln w="1651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659263" y="4901184"/>
            <a:ext cx="228600" cy="0"/>
          </a:xfrm>
          <a:prstGeom prst="line">
            <a:avLst/>
          </a:prstGeom>
          <a:noFill/>
          <a:ln w="1651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413415" y="4901184"/>
            <a:ext cx="274320" cy="0"/>
          </a:xfrm>
          <a:prstGeom prst="line">
            <a:avLst/>
          </a:prstGeom>
          <a:noFill/>
          <a:ln w="1651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105156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設計フェーズで決める：J-Quants / EDINET / ニュースソース / MCP or 通常API連携 / DB構造</a:t>
            </a:r>
            <a:endParaRPr lang="en-US" sz="104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731520" y="1280160"/>
            <a:ext cx="1097280" cy="310896"/>
          </a:xfrm>
          <a:prstGeom prst="roundRect">
            <a:avLst/>
          </a:prstGeom>
          <a:solidFill>
            <a:srgbClr val="1A375D"/>
          </a:solidFill>
          <a:ln>
            <a:solidFill>
              <a:srgbClr val="1A3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1280160"/>
            <a:ext cx="22860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700" b="1">
                <a:solidFill>
                  <a:srgbClr val="1A375D"/>
                </a:solidFill>
                <a:latin typeface="Meiryo"/>
                <a:ea typeface="Meiryo"/>
                <a:cs typeface="Meiryo"/>
              </a:rPr>
              <a:t>データ要件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19" y="1691639"/>
            <a:ext cx="4983481" cy="2157711"/>
          </a:xfrm>
          <a:prstGeom prst="roundRect">
            <a:avLst/>
          </a:prstGeom>
          <a:solidFill>
            <a:srgbClr val="F9FAFB"/>
          </a:solidFill>
          <a:ln w="11430">
            <a:solidFill>
              <a:srgbClr val="D2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0119" y="1874519"/>
            <a:ext cx="4023359" cy="948465"/>
          </a:xfrm>
          <a:prstGeom prst="rect">
            <a:avLst/>
          </a:prstGeom>
          <a:noFill/>
        </p:spPr>
        <p:txBody>
          <a:bodyPr wrap="square" lIns="73152" tIns="36576" rIns="54864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45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銘柄情報：コード、会社名、業種</a:t>
            </a:r>
            <a:endParaRPr sz="145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sz="145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45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株価：分析時点、現在、推移</a:t>
            </a:r>
            <a:endParaRPr sz="145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sz="145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45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財務・指標：売上、利益、ROE、PER、PBR</a:t>
            </a:r>
            <a:endParaRPr sz="145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0120" y="2900886"/>
            <a:ext cx="4899504" cy="948465"/>
          </a:xfrm>
          <a:prstGeom prst="rect">
            <a:avLst/>
          </a:prstGeom>
          <a:noFill/>
        </p:spPr>
        <p:txBody>
          <a:bodyPr wrap="square" lIns="73152" tIns="36576" rIns="54864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45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開示・ニュース：決算、業績修正、重要イベント</a:t>
            </a:r>
            <a:endParaRPr sz="145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sz="145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45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テーマ：テーマと関連銘柄</a:t>
            </a:r>
            <a:endParaRPr sz="145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sz="145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sz="145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分析履歴：当時の判断、AI要約、根拠</a:t>
            </a:r>
            <a:endParaRPr sz="1450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10｜非機能要件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2434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MVPではリアルタイム性より、信頼性・履歴・低コストを優先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710059" y="1435047"/>
            <a:ext cx="8265990" cy="4389120"/>
          </a:xfrm>
          <a:prstGeom prst="roundRect">
            <a:avLst/>
          </a:prstGeom>
          <a:solidFill>
            <a:srgbClr val="F9FAFB"/>
          </a:solidFill>
          <a:ln w="11430">
            <a:solidFill>
              <a:srgbClr val="D2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9734" y="1835627"/>
            <a:ext cx="6592078" cy="3387594"/>
          </a:xfrm>
          <a:prstGeom prst="rect">
            <a:avLst/>
          </a:prstGeom>
          <a:noFill/>
        </p:spPr>
        <p:txBody>
          <a:bodyPr wrap="square" lIns="73152" tIns="36576" rIns="54864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性能：通常画面は2〜3秒を目標</a:t>
            </a:r>
          </a:p>
          <a:p>
            <a:pPr algn="l">
              <a:spcAft>
                <a:spcPts val="800"/>
              </a:spcAft>
            </a:pPr>
            <a:r>
              <a:rPr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可用性：外部API障害でも全停止しない</a:t>
            </a:r>
            <a:endParaRPr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セキュリティ：HTTPS、秘密情報を安全に管理</a:t>
            </a:r>
            <a:endParaRPr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 algn="l">
              <a:spcAft>
                <a:spcPts val="800"/>
              </a:spcAft>
            </a:pPr>
            <a:r>
              <a:rPr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対応環境：PC優先、スマホでも基本利用</a:t>
            </a:r>
            <a:endParaRPr lang="en-US"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  <a:p>
            <a:pPr>
              <a:spcAft>
                <a:spcPts val="800"/>
              </a:spcAft>
            </a:pPr>
            <a:r>
              <a:rPr lang="en-US" altLang="ja-JP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lang="ja-JP" altLang="en-US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更新頻度：株価は日次レベル</a:t>
            </a:r>
          </a:p>
          <a:p>
            <a:pPr>
              <a:spcAft>
                <a:spcPts val="800"/>
              </a:spcAft>
            </a:pPr>
            <a:r>
              <a:rPr lang="en-US" altLang="ja-JP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lang="ja-JP" altLang="en-US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保存性：分析履歴は削除まで保持</a:t>
            </a:r>
          </a:p>
          <a:p>
            <a:pPr>
              <a:spcAft>
                <a:spcPts val="800"/>
              </a:spcAft>
            </a:pPr>
            <a:r>
              <a:rPr lang="en-US" altLang="ja-JP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lang="ja-JP" altLang="en-US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データ品質：情報源・取得日時・対象期間を保持</a:t>
            </a:r>
          </a:p>
          <a:p>
            <a:pPr>
              <a:spcAft>
                <a:spcPts val="800"/>
              </a:spcAft>
            </a:pPr>
            <a:r>
              <a:rPr lang="en-US" altLang="ja-JP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• </a:t>
            </a:r>
            <a:r>
              <a:rPr lang="ja-JP" altLang="en-US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保守性・コスト：</a:t>
            </a:r>
            <a:r>
              <a:rPr lang="en-US" altLang="ja-JP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API</a:t>
            </a:r>
            <a:r>
              <a:rPr lang="ja-JP" altLang="en-US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を差し替えやすく、無料</a:t>
            </a:r>
            <a:r>
              <a:rPr lang="en-US" altLang="ja-JP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〜</a:t>
            </a:r>
            <a:r>
              <a:rPr lang="ja-JP" altLang="en-US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低コスト</a:t>
            </a:r>
          </a:p>
          <a:p>
            <a:pPr algn="l">
              <a:spcAft>
                <a:spcPts val="800"/>
              </a:spcAft>
            </a:pPr>
            <a:endParaRPr b="0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11〜12｜制約条件 / MVP対象外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1450" b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個人開発で実装・検証できる範囲にスコープを固定</a:t>
            </a:r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86384" y="1380744"/>
            <a:ext cx="905256" cy="1280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11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874520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制約条件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173736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Shape 6"/>
          <p:cNvSpPr/>
          <p:nvPr/>
        </p:nvSpPr>
        <p:spPr>
          <a:xfrm>
            <a:off x="987552" y="2084832"/>
            <a:ext cx="155448" cy="155448"/>
          </a:xfrm>
          <a:prstGeom prst="ellipse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39776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日本株のみ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987552" y="2587752"/>
            <a:ext cx="155448" cy="155448"/>
          </a:xfrm>
          <a:prstGeom prst="ellipse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3977640" cy="256032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1400" b="1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個人開発・検証目的</a:t>
            </a:r>
            <a:endParaRPr sz="1400" b="1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87552" y="3090672"/>
            <a:ext cx="155448" cy="155448"/>
          </a:xfrm>
          <a:prstGeom prst="ellipse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80160" y="3063240"/>
            <a:ext cx="39776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無料〜低コスト優先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87552" y="3593592"/>
            <a:ext cx="155448" cy="155448"/>
          </a:xfrm>
          <a:prstGeom prst="ellipse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39776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リアルタイム株価は不要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87552" y="4096512"/>
            <a:ext cx="155448" cy="155448"/>
          </a:xfrm>
          <a:prstGeom prst="ellipse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280160" y="4069080"/>
            <a:ext cx="39776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1テーマ5〜10銘柄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87552" y="4599432"/>
            <a:ext cx="155448" cy="155448"/>
          </a:xfrm>
          <a:prstGeom prst="ellipse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80160" y="4572000"/>
            <a:ext cx="39776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AIは判断主体ではなく説明・整理役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87552" y="5102352"/>
            <a:ext cx="155448" cy="155448"/>
          </a:xfrm>
          <a:prstGeom prst="ellipse">
            <a:avLst/>
          </a:prstGeom>
          <a:solidFill>
            <a:srgbClr val="2E6E9E"/>
          </a:solidFill>
          <a:ln w="1270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280160" y="5074920"/>
            <a:ext cx="39776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当時の分析を上書きしない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126480" y="129844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199632" y="1374927"/>
            <a:ext cx="905256" cy="12801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12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87768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MVP対象外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1737360"/>
            <a:ext cx="533095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446520" y="2176272"/>
            <a:ext cx="164592" cy="0"/>
          </a:xfrm>
          <a:prstGeom prst="line">
            <a:avLst/>
          </a:prstGeom>
          <a:noFill/>
          <a:ln w="20320">
            <a:solidFill>
              <a:srgbClr val="B75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766560" y="2057400"/>
            <a:ext cx="406908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証券会社への注文・自動売買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446520" y="2679192"/>
            <a:ext cx="164592" cy="0"/>
          </a:xfrm>
          <a:prstGeom prst="line">
            <a:avLst/>
          </a:prstGeom>
          <a:noFill/>
          <a:ln w="20320">
            <a:solidFill>
              <a:srgbClr val="B75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766560" y="2560320"/>
            <a:ext cx="406908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米国株・海外株の本格対応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446520" y="3182112"/>
            <a:ext cx="164592" cy="0"/>
          </a:xfrm>
          <a:prstGeom prst="line">
            <a:avLst/>
          </a:prstGeom>
          <a:noFill/>
          <a:ln w="20320">
            <a:solidFill>
              <a:srgbClr val="B75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766560" y="3063240"/>
            <a:ext cx="406908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デイトレ向けリアルタイム機能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446520" y="3685032"/>
            <a:ext cx="164592" cy="0"/>
          </a:xfrm>
          <a:prstGeom prst="line">
            <a:avLst/>
          </a:prstGeom>
          <a:noFill/>
          <a:ln w="20320">
            <a:solidFill>
              <a:srgbClr val="B75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766560" y="3566160"/>
            <a:ext cx="406908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高度なポートフォリオ管理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446520" y="4187952"/>
            <a:ext cx="164592" cy="0"/>
          </a:xfrm>
          <a:prstGeom prst="line">
            <a:avLst/>
          </a:prstGeom>
          <a:noFill/>
          <a:ln w="20320">
            <a:solidFill>
              <a:srgbClr val="B75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766560" y="4069080"/>
            <a:ext cx="406908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AIによる完全自動テーマ発見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446520" y="4690872"/>
            <a:ext cx="164592" cy="0"/>
          </a:xfrm>
          <a:prstGeom prst="line">
            <a:avLst/>
          </a:prstGeom>
          <a:noFill/>
          <a:ln w="20320">
            <a:solidFill>
              <a:srgbClr val="B75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766560" y="4572000"/>
            <a:ext cx="4069080" cy="256032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1400" b="1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自動で判断モデルを更新する機能</a:t>
            </a:r>
            <a:endParaRPr sz="1400" b="1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46520" y="5193792"/>
            <a:ext cx="164592" cy="0"/>
          </a:xfrm>
          <a:prstGeom prst="line">
            <a:avLst/>
          </a:prstGeom>
          <a:noFill/>
          <a:ln w="20320">
            <a:solidFill>
              <a:srgbClr val="B75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766560" y="5074920"/>
            <a:ext cx="4069080" cy="256032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1400" b="1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過剰な通知・自動監視</a:t>
            </a:r>
            <a:endParaRPr sz="1400" b="1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13｜MVP完成条件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この一連の流れが動けば「MVP完成」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074920" cy="749808"/>
          </a:xfrm>
          <a:prstGeom prst="roundRect">
            <a:avLst>
              <a:gd name="adj" fmla="val 14634"/>
            </a:avLst>
          </a:prstGeom>
          <a:solidFill>
            <a:srgbClr val="F9FAFB"/>
          </a:solidFill>
          <a:ln w="10160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05840" y="177393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98A80"/>
          </a:solidFill>
          <a:ln w="13970">
            <a:solidFill>
              <a:srgbClr val="298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1829735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テーマを登録できる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074920" cy="749808"/>
          </a:xfrm>
          <a:prstGeom prst="roundRect">
            <a:avLst>
              <a:gd name="adj" fmla="val 14634"/>
            </a:avLst>
          </a:prstGeom>
          <a:solidFill>
            <a:srgbClr val="F9FAFB"/>
          </a:solidFill>
          <a:ln w="10160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92240" y="177393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98A80"/>
          </a:solidFill>
          <a:ln w="13970">
            <a:solidFill>
              <a:srgbClr val="298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67728" y="1829735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テーマから5〜10銘柄を確認できる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2960" y="2624328"/>
            <a:ext cx="5074920" cy="749808"/>
          </a:xfrm>
          <a:prstGeom prst="roundRect">
            <a:avLst>
              <a:gd name="adj" fmla="val 14634"/>
            </a:avLst>
          </a:prstGeom>
          <a:solidFill>
            <a:srgbClr val="F9FAFB"/>
          </a:solidFill>
          <a:ln w="10160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005840" y="279806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98A80"/>
          </a:solidFill>
          <a:ln w="13970">
            <a:solidFill>
              <a:srgbClr val="298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05840" y="28986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2853863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銘柄の基本分析を見られる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309360" y="2624328"/>
            <a:ext cx="5074920" cy="749808"/>
          </a:xfrm>
          <a:prstGeom prst="roundRect">
            <a:avLst>
              <a:gd name="adj" fmla="val 14634"/>
            </a:avLst>
          </a:prstGeom>
          <a:solidFill>
            <a:srgbClr val="F9FAFB"/>
          </a:solidFill>
          <a:ln w="10160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92240" y="279806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98A80"/>
          </a:solidFill>
          <a:ln w="13970">
            <a:solidFill>
              <a:srgbClr val="298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92240" y="28986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67728" y="2853863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注目理由をAI要約できる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22960" y="3648456"/>
            <a:ext cx="5074920" cy="749808"/>
          </a:xfrm>
          <a:prstGeom prst="roundRect">
            <a:avLst>
              <a:gd name="adj" fmla="val 14634"/>
            </a:avLst>
          </a:prstGeom>
          <a:solidFill>
            <a:srgbClr val="F9FAFB"/>
          </a:solidFill>
          <a:ln w="10160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05840" y="382219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98A80"/>
          </a:solidFill>
          <a:ln w="13970">
            <a:solidFill>
              <a:srgbClr val="298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05840" y="395935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81328" y="388732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分析セットを保存できる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309360" y="3648456"/>
            <a:ext cx="5074920" cy="749808"/>
          </a:xfrm>
          <a:prstGeom prst="roundRect">
            <a:avLst>
              <a:gd name="adj" fmla="val 14634"/>
            </a:avLst>
          </a:prstGeom>
          <a:solidFill>
            <a:srgbClr val="F9FAFB"/>
          </a:solidFill>
          <a:ln w="10160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92240" y="382219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98A80"/>
          </a:solidFill>
          <a:ln w="13970">
            <a:solidFill>
              <a:srgbClr val="298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92240" y="3925575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67728" y="3877991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分析時点のデータを固定保存できる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822960" y="4672584"/>
            <a:ext cx="5074920" cy="749808"/>
          </a:xfrm>
          <a:prstGeom prst="roundRect">
            <a:avLst>
              <a:gd name="adj" fmla="val 14634"/>
            </a:avLst>
          </a:prstGeom>
          <a:solidFill>
            <a:srgbClr val="F9FAFB"/>
          </a:solidFill>
          <a:ln w="10160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05840" y="484632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98A80"/>
          </a:solidFill>
          <a:ln w="13970">
            <a:solidFill>
              <a:srgbClr val="298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05840" y="498348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81328" y="4902119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過去分析を開ける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309360" y="4672584"/>
            <a:ext cx="5074920" cy="749808"/>
          </a:xfrm>
          <a:prstGeom prst="roundRect">
            <a:avLst>
              <a:gd name="adj" fmla="val 14634"/>
            </a:avLst>
          </a:prstGeom>
          <a:solidFill>
            <a:srgbClr val="F9FAFB"/>
          </a:solidFill>
          <a:ln w="10160">
            <a:solidFill>
              <a:srgbClr val="D2D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492240" y="484632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98A80"/>
          </a:solidFill>
          <a:ln w="13970">
            <a:solidFill>
              <a:srgbClr val="298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492240" y="498348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67728" y="4902119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分析時点と現在を比較できる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1280160" y="5806440"/>
            <a:ext cx="9601200" cy="475488"/>
          </a:xfrm>
          <a:prstGeom prst="roundRect">
            <a:avLst>
              <a:gd name="adj" fmla="val 23077"/>
            </a:avLst>
          </a:prstGeom>
          <a:solidFill>
            <a:srgbClr val="FAF5EC"/>
          </a:solidFill>
          <a:ln w="10160">
            <a:solidFill>
              <a:srgbClr val="E08D34"/>
            </a:solidFill>
            <a:prstDash val="solid"/>
          </a:ln>
        </p:spPr>
        <p:txBody>
          <a:bodyPr wrap="square" lIns="0" tIns="0" rIns="0" bIns="0" anchor="ctr"/>
          <a:lstStyle/>
          <a:p>
            <a:pPr algn="ctr"/>
            <a:r>
              <a:rPr sz="1300" b="0">
                <a:solidFill>
                  <a:srgbClr val="243447"/>
                </a:solidFill>
                <a:latin typeface="Meiryo"/>
                <a:ea typeface="Meiryo"/>
                <a:cs typeface="Meiryo"/>
              </a:rPr>
              <a:t>MVPでは「後から比較できるところまで」。高度な事後分析は次フェーズ。</a:t>
            </a:r>
          </a:p>
        </p:txBody>
      </p:sp>
      <p:sp>
        <p:nvSpPr>
          <p:cNvPr id="37" name="Text 35"/>
          <p:cNvSpPr/>
          <p:nvPr/>
        </p:nvSpPr>
        <p:spPr>
          <a:xfrm>
            <a:off x="1508760" y="592531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698480" cy="384048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7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14｜将来拡張ロードマップ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1450" b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分析・振り返りから始め、判断支援・承認後の購入連携へ段階的に拡張</a:t>
            </a:r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965960" cy="2423160"/>
          </a:xfrm>
          <a:prstGeom prst="roundRect">
            <a:avLst>
              <a:gd name="adj" fmla="val 5581"/>
            </a:avLst>
          </a:prstGeom>
          <a:solidFill>
            <a:srgbClr val="EAF3F8"/>
          </a:solidFill>
          <a:ln w="10160">
            <a:solidFill>
              <a:srgbClr val="2E6E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95528" y="2029968"/>
            <a:ext cx="1691640" cy="201168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795528" y="2487168"/>
            <a:ext cx="1691640" cy="310896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ctr"/>
            <a:r>
              <a:rPr sz="1550" b="1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分析MVP</a:t>
            </a:r>
            <a:endParaRPr sz="1550" b="1" dirty="0">
              <a:solidFill>
                <a:srgbClr val="263446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3816" y="3054096"/>
            <a:ext cx="1645920" cy="7132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分析・保存・比較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24328" y="3044952"/>
            <a:ext cx="246888" cy="0"/>
          </a:xfrm>
          <a:prstGeom prst="line">
            <a:avLst/>
          </a:prstGeom>
          <a:noFill/>
          <a:ln w="1905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944368" y="1828800"/>
            <a:ext cx="1965960" cy="2423160"/>
          </a:xfrm>
          <a:prstGeom prst="roundRect">
            <a:avLst>
              <a:gd name="adj" fmla="val 5581"/>
            </a:avLst>
          </a:prstGeom>
          <a:solidFill>
            <a:srgbClr val="EAF6F4"/>
          </a:solidFill>
          <a:ln w="10160">
            <a:solidFill>
              <a:srgbClr val="2A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081528" y="2029968"/>
            <a:ext cx="1691640" cy="201168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3081528" y="2487168"/>
            <a:ext cx="1691640" cy="31089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事後分析AI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99816" y="3054096"/>
            <a:ext cx="1645920" cy="7132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何が正しかったか / 見落としたか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10328" y="3044952"/>
            <a:ext cx="246888" cy="0"/>
          </a:xfrm>
          <a:prstGeom prst="line">
            <a:avLst/>
          </a:prstGeom>
          <a:noFill/>
          <a:ln w="1905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230368" y="1828800"/>
            <a:ext cx="1965960" cy="2423160"/>
          </a:xfrm>
          <a:prstGeom prst="roundRect">
            <a:avLst>
              <a:gd name="adj" fmla="val 5581"/>
            </a:avLst>
          </a:prstGeom>
          <a:solidFill>
            <a:srgbClr val="EAF4EE"/>
          </a:solidFill>
          <a:ln w="10160">
            <a:solidFill>
              <a:srgbClr val="3B7D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67528" y="2029968"/>
            <a:ext cx="1691640" cy="201168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367528" y="2487168"/>
            <a:ext cx="1691640" cy="31089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判断支援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85816" y="3054096"/>
            <a:ext cx="1645920" cy="7132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過去傾向＋現在データから判断材料を提示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96328" y="3044952"/>
            <a:ext cx="246888" cy="0"/>
          </a:xfrm>
          <a:prstGeom prst="line">
            <a:avLst/>
          </a:prstGeom>
          <a:noFill/>
          <a:ln w="1905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516368" y="1828800"/>
            <a:ext cx="1965960" cy="2423160"/>
          </a:xfrm>
          <a:prstGeom prst="roundRect">
            <a:avLst>
              <a:gd name="adj" fmla="val 5581"/>
            </a:avLst>
          </a:prstGeom>
          <a:solidFill>
            <a:srgbClr val="FFF4E5"/>
          </a:solidFill>
          <a:ln w="10160">
            <a:solidFill>
              <a:srgbClr val="C884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653528" y="2029968"/>
            <a:ext cx="1691640" cy="201168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4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653528" y="2487168"/>
            <a:ext cx="1691640" cy="31089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購入支援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71816" y="3054096"/>
            <a:ext cx="1645920" cy="7132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候補・金額・数量を提案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82328" y="3044952"/>
            <a:ext cx="246888" cy="0"/>
          </a:xfrm>
          <a:prstGeom prst="line">
            <a:avLst/>
          </a:prstGeom>
          <a:noFill/>
          <a:ln w="19050">
            <a:solidFill>
              <a:srgbClr val="6E77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802368" y="1828800"/>
            <a:ext cx="1965960" cy="2423160"/>
          </a:xfrm>
          <a:prstGeom prst="roundRect">
            <a:avLst>
              <a:gd name="adj" fmla="val 5581"/>
            </a:avLst>
          </a:prstGeom>
          <a:solidFill>
            <a:srgbClr val="FCEEEE"/>
          </a:solidFill>
          <a:ln w="10160">
            <a:solidFill>
              <a:srgbClr val="B756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939528" y="2029968"/>
            <a:ext cx="1691640" cy="201168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5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939528" y="2487168"/>
            <a:ext cx="1691640" cy="310896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承認後購入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57816" y="3054096"/>
            <a:ext cx="1645920" cy="7132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証券会社連携・ユーザー承認後に発注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51560" y="4754880"/>
            <a:ext cx="10607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5DB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325880" y="5010912"/>
            <a:ext cx="1554480" cy="228600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82F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最終ビジョン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4994120"/>
            <a:ext cx="8345978" cy="594360"/>
          </a:xfrm>
          <a:prstGeom prst="rect">
            <a:avLst/>
          </a:prstGeom>
          <a:noFill/>
          <a:ln/>
        </p:spPr>
        <p:txBody>
          <a:bodyPr wrap="square" lIns="54864" tIns="18288" rIns="54864" bIns="18288" rtlCol="0" anchor="ctr"/>
          <a:lstStyle/>
          <a:p>
            <a:pPr algn="l"/>
            <a:r>
              <a:rPr sz="140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過去の分析・振り返りから判断基準を蓄積し</a:t>
            </a:r>
            <a:r>
              <a:rPr sz="140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、</a:t>
            </a:r>
          </a:p>
          <a:p>
            <a:pPr algn="l"/>
            <a:r>
              <a:rPr sz="1400" b="0" dirty="0" err="1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その基準とAI分析を組み合わせて判断を支援し、最終的にはユーザー承認のもとで購入まで連携する</a:t>
            </a:r>
            <a:r>
              <a:rPr sz="1400" b="0" dirty="0">
                <a:solidFill>
                  <a:srgbClr val="263446"/>
                </a:solidFill>
                <a:latin typeface="Meiryo"/>
                <a:ea typeface="Meiryo"/>
                <a:cs typeface="Meiryo"/>
              </a:rPr>
              <a:t>。</a:t>
            </a:r>
          </a:p>
        </p:txBody>
      </p:sp>
      <p:sp>
        <p:nvSpPr>
          <p:cNvPr id="31" name="Text 29"/>
          <p:cNvSpPr/>
          <p:nvPr/>
        </p:nvSpPr>
        <p:spPr>
          <a:xfrm>
            <a:off x="1280160" y="5943600"/>
            <a:ext cx="9692640" cy="256032"/>
          </a:xfrm>
          <a:prstGeom prst="rect">
            <a:avLst/>
          </a:prstGeom>
          <a:noFill/>
          <a:ln/>
        </p:spPr>
        <p:txBody>
          <a:bodyPr wrap="square" lIns="73152" tIns="27432" rIns="73152" bIns="27432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自動購入はMVP対象外。利用者の設定・承認・法令/サービス要件を満たすことを前提に将来検討。</a:t>
            </a:r>
            <a:endParaRPr lang="en-US" sz="9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37960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1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835</Words>
  <Application>Microsoft Office PowerPoint</Application>
  <PresentationFormat>Widescreen</PresentationFormat>
  <Paragraphs>288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Noto Sans CJK JP</vt:lpstr>
      <vt:lpstr>Meiryo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株式投資判断支援Webアプリ｜要件定義</dc:title>
  <dc:subject>株式投資判断支援Webアプリ 要件定義</dc:subject>
  <dc:creator>OpenAI</dc:creator>
  <cp:lastModifiedBy>Koya Fujisawa</cp:lastModifiedBy>
  <cp:revision>3</cp:revision>
  <dcterms:created xsi:type="dcterms:W3CDTF">2026-08-28T11:19:26Z</dcterms:created>
  <dcterms:modified xsi:type="dcterms:W3CDTF">2026-08-28T12:16:48Z</dcterms:modified>
</cp:coreProperties>
</file>